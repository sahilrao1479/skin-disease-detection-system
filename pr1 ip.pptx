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6" r:id="rId1"/>
  </p:sldMasterIdLst>
  <p:notesMasterIdLst>
    <p:notesMasterId r:id="rId25"/>
  </p:notesMasterIdLst>
  <p:sldIdLst>
    <p:sldId id="281" r:id="rId2"/>
    <p:sldId id="284" r:id="rId3"/>
    <p:sldId id="285" r:id="rId4"/>
    <p:sldId id="295" r:id="rId5"/>
    <p:sldId id="296" r:id="rId6"/>
    <p:sldId id="286" r:id="rId7"/>
    <p:sldId id="297" r:id="rId8"/>
    <p:sldId id="287" r:id="rId9"/>
    <p:sldId id="304" r:id="rId10"/>
    <p:sldId id="288" r:id="rId11"/>
    <p:sldId id="305" r:id="rId12"/>
    <p:sldId id="289" r:id="rId13"/>
    <p:sldId id="290" r:id="rId14"/>
    <p:sldId id="299" r:id="rId15"/>
    <p:sldId id="291" r:id="rId16"/>
    <p:sldId id="292" r:id="rId17"/>
    <p:sldId id="301" r:id="rId18"/>
    <p:sldId id="293" r:id="rId19"/>
    <p:sldId id="294" r:id="rId20"/>
    <p:sldId id="303" r:id="rId21"/>
    <p:sldId id="306" r:id="rId22"/>
    <p:sldId id="307" r:id="rId23"/>
    <p:sldId id="302" r:id="rId24"/>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F65C626-2F83-4EE5-A956-15BAB7E6E322}" type="datetimeFigureOut">
              <a:rPr lang="en-IN" smtClean="0"/>
              <a:t>15-05-2026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14809AE-EA70-4ECC-8FE3-598D1789EF7B}" type="slidenum">
              <a:rPr lang="en-IN" smtClean="0"/>
              <a:t>‹#›</a:t>
            </a:fld>
            <a:endParaRPr lang="en-IN"/>
          </a:p>
        </p:txBody>
      </p:sp>
    </p:spTree>
    <p:extLst>
      <p:ext uri="{BB962C8B-B14F-4D97-AF65-F5344CB8AC3E}">
        <p14:creationId xmlns:p14="http://schemas.microsoft.com/office/powerpoint/2010/main" val="2292175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006CA556-3ED3-4E83-B209-8A9AB6216755}" type="datetime1">
              <a:rPr lang="en-US" smtClean="0"/>
              <a:t>5/15/2026</a:t>
            </a:fld>
            <a:endParaRPr lang="en-US"/>
          </a:p>
        </p:txBody>
      </p:sp>
      <p:sp>
        <p:nvSpPr>
          <p:cNvPr id="5" name="Footer Placeholder 4"/>
          <p:cNvSpPr>
            <a:spLocks noGrp="1"/>
          </p:cNvSpPr>
          <p:nvPr>
            <p:ph type="ftr" sz="quarter" idx="11"/>
          </p:nvPr>
        </p:nvSpPr>
        <p:spPr/>
        <p:txBody>
          <a:bodyPr/>
          <a:lstStyle>
            <a:lvl1pPr>
              <a:defRPr/>
            </a:lvl1pPr>
          </a:lstStyle>
          <a:p>
            <a:endParaRPr lang="en-IN"/>
          </a:p>
        </p:txBody>
      </p:sp>
      <p:sp>
        <p:nvSpPr>
          <p:cNvPr id="6"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1475965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p:txBody>
          <a:bodyPr/>
          <a:lstStyle>
            <a:lvl1pPr>
              <a:defRPr/>
            </a:lvl1pPr>
          </a:lstStyle>
          <a:p>
            <a:fld id="{7FAB009F-3F92-475B-B1D9-0CE431819213}" type="datetime1">
              <a:rPr lang="en-US" smtClean="0"/>
              <a:t>5/15/2026</a:t>
            </a:fld>
            <a:endParaRPr lang="en-US"/>
          </a:p>
        </p:txBody>
      </p:sp>
      <p:sp>
        <p:nvSpPr>
          <p:cNvPr id="11" name="Footer Placeholder 4"/>
          <p:cNvSpPr>
            <a:spLocks noGrp="1"/>
          </p:cNvSpPr>
          <p:nvPr>
            <p:ph type="ftr" sz="quarter" idx="11"/>
          </p:nvPr>
        </p:nvSpPr>
        <p:spPr/>
        <p:txBody>
          <a:bodyPr/>
          <a:lstStyle>
            <a:lvl1pPr>
              <a:defRPr/>
            </a:lvl1pPr>
          </a:lstStyle>
          <a:p>
            <a:endParaRPr lang="en-IN"/>
          </a:p>
        </p:txBody>
      </p:sp>
      <p:sp>
        <p:nvSpPr>
          <p:cNvPr id="12"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5279292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970453F7-F083-4F56-AF23-CBEFD95BBE37}" type="datetime1">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ＭＳ Ｐゴシック" charset="-128"/>
                <a:cs typeface="+mn-cs"/>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marL="38100">
              <a:lnSpc>
                <a:spcPts val="1630"/>
              </a:lnSpc>
            </a:pPr>
            <a:fld id="{81D60167-4931-47E6-BA6A-407CBD079E47}" type="slidenum">
              <a:rPr lang="en-IN" smtClean="0"/>
              <a:pPr marL="38100">
                <a:lnSpc>
                  <a:spcPts val="1630"/>
                </a:lnSpc>
              </a:pPr>
              <a:t>‹#›</a:t>
            </a:fld>
            <a:endParaRPr lang="en-IN"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5" cstate="print"/>
          <a:srcRect/>
          <a:stretch>
            <a:fillRect/>
          </a:stretch>
        </p:blipFill>
        <p:spPr bwMode="auto">
          <a:xfrm>
            <a:off x="6553200" y="228600"/>
            <a:ext cx="1920875" cy="609600"/>
          </a:xfrm>
          <a:prstGeom prst="rect">
            <a:avLst/>
          </a:prstGeom>
          <a:noFill/>
          <a:ln w="9525">
            <a:noFill/>
            <a:miter lim="800000"/>
            <a:headEnd/>
            <a:tailEnd/>
          </a:ln>
        </p:spPr>
      </p:pic>
    </p:spTree>
    <p:extLst>
      <p:ext uri="{BB962C8B-B14F-4D97-AF65-F5344CB8AC3E}">
        <p14:creationId xmlns:p14="http://schemas.microsoft.com/office/powerpoint/2010/main" val="2688698933"/>
      </p:ext>
    </p:extLst>
  </p:cSld>
  <p:clrMap bg1="lt1" tx1="dk1" bg2="lt2" tx2="dk2" accent1="accent1" accent2="accent2" accent3="accent3" accent4="accent4" accent5="accent5" accent6="accent6" hlink="hlink" folHlink="folHlink"/>
  <p:sldLayoutIdLst>
    <p:sldLayoutId id="2147483667" r:id="rId1"/>
    <p:sldLayoutId id="2147483668" r:id="rId2"/>
  </p:sldLayoutIdLst>
  <p:hf hdr="0" ftr="0"/>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4">
            <a:extLst>
              <a:ext uri="{FF2B5EF4-FFF2-40B4-BE49-F238E27FC236}">
                <a16:creationId xmlns:a16="http://schemas.microsoft.com/office/drawing/2014/main" id="{E4690CBE-8CEE-F5EE-CA89-DCBB31B742DE}"/>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a:t>
            </a:fld>
            <a:endParaRPr dirty="0"/>
          </a:p>
        </p:txBody>
      </p:sp>
      <p:sp>
        <p:nvSpPr>
          <p:cNvPr id="16" name="Rectangle 15"/>
          <p:cNvSpPr/>
          <p:nvPr/>
        </p:nvSpPr>
        <p:spPr>
          <a:xfrm>
            <a:off x="1417936" y="986135"/>
            <a:ext cx="6308137" cy="461665"/>
          </a:xfrm>
          <a:prstGeom prst="rect">
            <a:avLst/>
          </a:prstGeom>
        </p:spPr>
        <p:txBody>
          <a:bodyPr wrap="none">
            <a:spAutoFit/>
          </a:bodyPr>
          <a:lstStyle/>
          <a:p>
            <a:pPr algn="ctr"/>
            <a:r>
              <a:rPr lang="en-US" sz="2400" b="1" dirty="0"/>
              <a:t>Integrated Project–II | Progress Review –2</a:t>
            </a:r>
            <a:endParaRPr lang="en-IN" altLang="en-US" sz="2400" b="1" dirty="0"/>
          </a:p>
        </p:txBody>
      </p:sp>
      <p:graphicFrame>
        <p:nvGraphicFramePr>
          <p:cNvPr id="18" name="Table 17"/>
          <p:cNvGraphicFramePr>
            <a:graphicFrameLocks noGrp="1"/>
          </p:cNvGraphicFramePr>
          <p:nvPr>
            <p:extLst>
              <p:ext uri="{D42A27DB-BD31-4B8C-83A1-F6EECF244321}">
                <p14:modId xmlns:p14="http://schemas.microsoft.com/office/powerpoint/2010/main" val="1719492170"/>
              </p:ext>
            </p:extLst>
          </p:nvPr>
        </p:nvGraphicFramePr>
        <p:xfrm>
          <a:off x="341951" y="5002843"/>
          <a:ext cx="8460096" cy="1554480"/>
        </p:xfrm>
        <a:graphic>
          <a:graphicData uri="http://schemas.openxmlformats.org/drawingml/2006/table">
            <a:tbl>
              <a:tblPr>
                <a:tableStyleId>{2D5ABB26-0587-4C30-8999-92F81FD0307C}</a:tableStyleId>
              </a:tblPr>
              <a:tblGrid>
                <a:gridCol w="4230048">
                  <a:extLst>
                    <a:ext uri="{9D8B030D-6E8A-4147-A177-3AD203B41FA5}">
                      <a16:colId xmlns:a16="http://schemas.microsoft.com/office/drawing/2014/main" val="20000"/>
                    </a:ext>
                  </a:extLst>
                </a:gridCol>
                <a:gridCol w="4230048">
                  <a:extLst>
                    <a:ext uri="{9D8B030D-6E8A-4147-A177-3AD203B41FA5}">
                      <a16:colId xmlns:a16="http://schemas.microsoft.com/office/drawing/2014/main" val="20001"/>
                    </a:ext>
                  </a:extLst>
                </a:gridCol>
              </a:tblGrid>
              <a:tr h="198886">
                <a:tc>
                  <a:txBody>
                    <a:bodyPr/>
                    <a:lstStyle/>
                    <a:p>
                      <a:r>
                        <a:rPr lang="en-US" sz="1100" b="1" dirty="0"/>
                        <a:t>Submitted</a:t>
                      </a:r>
                      <a:r>
                        <a:rPr lang="en-US" sz="1100" b="1" baseline="0" dirty="0"/>
                        <a:t> To: </a:t>
                      </a:r>
                      <a:endParaRPr lang="en-IN" sz="1100" b="1" dirty="0">
                        <a:latin typeface="Times New Roman" panose="02020603050405020304" pitchFamily="18" charset="0"/>
                        <a:cs typeface="Times New Roman" panose="02020603050405020304" pitchFamily="18" charset="0"/>
                      </a:endParaRPr>
                    </a:p>
                  </a:txBody>
                  <a:tcPr/>
                </a:tc>
                <a:tc>
                  <a:txBody>
                    <a:bodyPr/>
                    <a:lstStyle/>
                    <a:p>
                      <a:r>
                        <a:rPr lang="en-US" sz="1100" b="1" dirty="0"/>
                        <a:t>Submitted By:</a:t>
                      </a:r>
                      <a:endParaRPr lang="en-IN" sz="11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254957">
                <a:tc rowSpan="5">
                  <a:txBody>
                    <a:bodyPr/>
                    <a:lstStyle/>
                    <a:p>
                      <a:r>
                        <a:rPr lang="en-IN" sz="1100" dirty="0">
                          <a:latin typeface="Times New Roman" panose="02020603050405020304" pitchFamily="18" charset="0"/>
                          <a:cs typeface="Times New Roman" panose="02020603050405020304" pitchFamily="18" charset="0"/>
                        </a:rPr>
                        <a:t>Ms. Tanu  Minhas</a:t>
                      </a:r>
                    </a:p>
                  </a:txBody>
                  <a:tcPr/>
                </a:tc>
                <a:tc>
                  <a:txBody>
                    <a:bodyPr/>
                    <a:lstStyle/>
                    <a:p>
                      <a:r>
                        <a:rPr lang="en-US" sz="1100" dirty="0"/>
                        <a:t>1.Rishav (2411981460)</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98408">
                <a:tc vMerge="1">
                  <a:txBody>
                    <a:bodyPr/>
                    <a:lstStyle/>
                    <a:p>
                      <a:endParaRPr lang="en-IN" sz="900" dirty="0">
                        <a:latin typeface="Times New Roman" panose="02020603050405020304" pitchFamily="18" charset="0"/>
                        <a:cs typeface="Times New Roman" panose="02020603050405020304" pitchFamily="18" charset="0"/>
                      </a:endParaRPr>
                    </a:p>
                  </a:txBody>
                  <a:tcPr/>
                </a:tc>
                <a:tc>
                  <a:txBody>
                    <a:bodyPr/>
                    <a:lstStyle/>
                    <a:p>
                      <a:r>
                        <a:rPr lang="en-US" sz="1100" dirty="0"/>
                        <a:t>2.Ritika Kumari (2411981465)</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215661">
                <a:tc vMerge="1">
                  <a:txBody>
                    <a:bodyPr/>
                    <a:lstStyle/>
                    <a:p>
                      <a:endParaRPr lang="en-IN" sz="900" dirty="0">
                        <a:latin typeface="Times New Roman" panose="02020603050405020304" pitchFamily="18" charset="0"/>
                        <a:cs typeface="Times New Roman" panose="02020603050405020304" pitchFamily="18" charset="0"/>
                      </a:endParaRPr>
                    </a:p>
                  </a:txBody>
                  <a:tcPr/>
                </a:tc>
                <a:tc>
                  <a:txBody>
                    <a:bodyPr/>
                    <a:lstStyle/>
                    <a:p>
                      <a:r>
                        <a:rPr lang="en-US" sz="1100" dirty="0"/>
                        <a:t>3.Sahil Rao (2411981479)</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211347">
                <a:tc vMerge="1">
                  <a:txBody>
                    <a:bodyPr/>
                    <a:lstStyle/>
                    <a:p>
                      <a:endParaRPr lang="en-IN" sz="900" dirty="0">
                        <a:latin typeface="Times New Roman" panose="02020603050405020304" pitchFamily="18" charset="0"/>
                        <a:cs typeface="Times New Roman" panose="02020603050405020304" pitchFamily="18" charset="0"/>
                      </a:endParaRPr>
                    </a:p>
                  </a:txBody>
                  <a:tcPr/>
                </a:tc>
                <a:tc>
                  <a:txBody>
                    <a:bodyPr/>
                    <a:lstStyle/>
                    <a:p>
                      <a:r>
                        <a:rPr lang="en-US" sz="1100" dirty="0"/>
                        <a:t>4.Sakshi Yadav (2411981490)</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211347">
                <a:tc vMerge="1">
                  <a:txBody>
                    <a:bodyPr/>
                    <a:lstStyle/>
                    <a:p>
                      <a:endParaRPr lang="en-IN" sz="900" dirty="0">
                        <a:latin typeface="Times New Roman" panose="02020603050405020304" pitchFamily="18" charset="0"/>
                        <a:cs typeface="Times New Roman" panose="02020603050405020304" pitchFamily="18" charset="0"/>
                      </a:endParaRPr>
                    </a:p>
                  </a:txBody>
                  <a:tcPr/>
                </a:tc>
                <a:tc>
                  <a:txBody>
                    <a:bodyPr/>
                    <a:lstStyle/>
                    <a:p>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
        <p:nvSpPr>
          <p:cNvPr id="19" name="Rectangle 18"/>
          <p:cNvSpPr/>
          <p:nvPr/>
        </p:nvSpPr>
        <p:spPr>
          <a:xfrm>
            <a:off x="2173891" y="3733800"/>
            <a:ext cx="4790414" cy="369332"/>
          </a:xfrm>
          <a:prstGeom prst="rect">
            <a:avLst/>
          </a:prstGeom>
        </p:spPr>
        <p:txBody>
          <a:bodyPr wrap="none">
            <a:spAutoFit/>
          </a:bodyPr>
          <a:lstStyle/>
          <a:p>
            <a:pPr algn="ctr"/>
            <a:r>
              <a:rPr lang="en-IN" altLang="en-US" b="1" dirty="0"/>
              <a:t>Department of computer Science &amp; Engineering </a:t>
            </a:r>
          </a:p>
        </p:txBody>
      </p:sp>
      <p:sp>
        <p:nvSpPr>
          <p:cNvPr id="20" name="Rectangle 19"/>
          <p:cNvSpPr/>
          <p:nvPr/>
        </p:nvSpPr>
        <p:spPr>
          <a:xfrm>
            <a:off x="1632493" y="4035643"/>
            <a:ext cx="5873211" cy="461665"/>
          </a:xfrm>
          <a:prstGeom prst="rect">
            <a:avLst/>
          </a:prstGeom>
        </p:spPr>
        <p:txBody>
          <a:bodyPr wrap="none">
            <a:spAutoFit/>
          </a:bodyPr>
          <a:lstStyle/>
          <a:p>
            <a:pPr algn="ctr"/>
            <a:r>
              <a:rPr lang="en-IN" altLang="en-US" sz="2400" b="1" dirty="0"/>
              <a:t>CHITKARA UNIVERSITY, HIMACHAL PRADESH</a:t>
            </a:r>
          </a:p>
        </p:txBody>
      </p:sp>
      <p:sp>
        <p:nvSpPr>
          <p:cNvPr id="8" name="Rectangle 7"/>
          <p:cNvSpPr/>
          <p:nvPr/>
        </p:nvSpPr>
        <p:spPr>
          <a:xfrm>
            <a:off x="1004699" y="1548825"/>
            <a:ext cx="7218643" cy="523220"/>
          </a:xfrm>
          <a:prstGeom prst="rect">
            <a:avLst/>
          </a:prstGeom>
        </p:spPr>
        <p:txBody>
          <a:bodyPr wrap="none">
            <a:spAutoFit/>
          </a:bodyPr>
          <a:lstStyle/>
          <a:p>
            <a:pPr algn="ctr"/>
            <a:r>
              <a:rPr lang="en-IN" altLang="en-US" sz="2800" b="1" dirty="0">
                <a:solidFill>
                  <a:srgbClr val="FF0000"/>
                </a:solidFill>
              </a:rPr>
              <a:t>Skin Disease Detection System Using ML</a:t>
            </a:r>
          </a:p>
        </p:txBody>
      </p:sp>
      <p:pic>
        <p:nvPicPr>
          <p:cNvPr id="2" name="Picture 1">
            <a:extLst>
              <a:ext uri="{FF2B5EF4-FFF2-40B4-BE49-F238E27FC236}">
                <a16:creationId xmlns:a16="http://schemas.microsoft.com/office/drawing/2014/main" id="{23959EEC-EE76-39F9-5B4C-E63B5D074785}"/>
              </a:ext>
            </a:extLst>
          </p:cNvPr>
          <p:cNvPicPr>
            <a:picLocks noChangeAspect="1"/>
          </p:cNvPicPr>
          <p:nvPr/>
        </p:nvPicPr>
        <p:blipFill rotWithShape="1">
          <a:blip r:embed="rId2"/>
          <a:srcRect b="12162"/>
          <a:stretch>
            <a:fillRect/>
          </a:stretch>
        </p:blipFill>
        <p:spPr bwMode="auto">
          <a:xfrm>
            <a:off x="3101369" y="2126164"/>
            <a:ext cx="2935457" cy="1372696"/>
          </a:xfrm>
          <a:prstGeom prst="rect">
            <a:avLst/>
          </a:prstGeom>
          <a:ln>
            <a:noFill/>
          </a:ln>
          <a:extLst>
            <a:ext uri="{53640926-AAD7-44D8-BBD7-CCE9431645EC}">
              <a14:shadowObscured xmlns:a14="http://schemas.microsoft.com/office/drawing/2010/main"/>
            </a:ext>
          </a:extLst>
        </p:spPr>
      </p:pic>
      <p:sp>
        <p:nvSpPr>
          <p:cNvPr id="3" name="Date Placeholder 2">
            <a:extLst>
              <a:ext uri="{FF2B5EF4-FFF2-40B4-BE49-F238E27FC236}">
                <a16:creationId xmlns:a16="http://schemas.microsoft.com/office/drawing/2014/main" id="{4E116D05-0834-7612-D70F-A80AA9957ADA}"/>
              </a:ext>
            </a:extLst>
          </p:cNvPr>
          <p:cNvSpPr>
            <a:spLocks noGrp="1"/>
          </p:cNvSpPr>
          <p:nvPr>
            <p:ph type="dt" sz="half" idx="10"/>
          </p:nvPr>
        </p:nvSpPr>
        <p:spPr/>
        <p:txBody>
          <a:bodyPr/>
          <a:lstStyle/>
          <a:p>
            <a:fld id="{D19D52F4-17CD-409F-9080-70E7B46E1105}" type="datetime1">
              <a:rPr lang="en-US" smtClean="0"/>
              <a:t>5/15/2026</a:t>
            </a:fld>
            <a:endParaRPr lang="en-US"/>
          </a:p>
        </p:txBody>
      </p:sp>
    </p:spTree>
    <p:extLst>
      <p:ext uri="{BB962C8B-B14F-4D97-AF65-F5344CB8AC3E}">
        <p14:creationId xmlns:p14="http://schemas.microsoft.com/office/powerpoint/2010/main" val="1366104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Agenda</a:t>
            </a:r>
            <a:endParaRPr lang="en-US" dirty="0"/>
          </a:p>
        </p:txBody>
      </p:sp>
      <p:sp>
        <p:nvSpPr>
          <p:cNvPr id="3" name="Content Placeholder 2"/>
          <p:cNvSpPr>
            <a:spLocks noGrp="1"/>
          </p:cNvSpPr>
          <p:nvPr>
            <p:ph idx="1"/>
          </p:nvPr>
        </p:nvSpPr>
        <p:spPr>
          <a:xfrm>
            <a:off x="457200" y="1371600"/>
            <a:ext cx="8229600" cy="5257800"/>
          </a:xfrm>
        </p:spPr>
        <p:txBody>
          <a:bodyPr/>
          <a:lstStyle/>
          <a:p>
            <a:r>
              <a:rPr lang="en-US" b="1" dirty="0"/>
              <a:t>Project Overview</a:t>
            </a:r>
          </a:p>
          <a:p>
            <a:r>
              <a:rPr lang="en-US" b="1" dirty="0"/>
              <a:t>Requirement Gathering &amp; Data Collection</a:t>
            </a:r>
          </a:p>
          <a:p>
            <a:r>
              <a:rPr lang="en-US" b="1" dirty="0"/>
              <a:t>Design Phase</a:t>
            </a:r>
          </a:p>
          <a:p>
            <a:r>
              <a:rPr lang="en-US" b="1" dirty="0"/>
              <a:t>Development Kickoff</a:t>
            </a:r>
          </a:p>
          <a:p>
            <a:r>
              <a:rPr lang="en-US" b="1" dirty="0"/>
              <a:t>SDG Goals Mapping</a:t>
            </a:r>
          </a:p>
          <a:p>
            <a:r>
              <a:rPr lang="en-US" b="1" dirty="0"/>
              <a:t>Multidisciplinary Approach</a:t>
            </a:r>
          </a:p>
          <a:p>
            <a:r>
              <a:rPr lang="en-US" b="1" dirty="0"/>
              <a:t>Novelty Factor</a:t>
            </a:r>
          </a:p>
          <a:p>
            <a:r>
              <a:rPr lang="en-US" b="1" dirty="0"/>
              <a:t>Challenges &amp; Risks</a:t>
            </a:r>
          </a:p>
        </p:txBody>
      </p:sp>
      <p:sp>
        <p:nvSpPr>
          <p:cNvPr id="4" name="Date Placeholder 3">
            <a:extLst>
              <a:ext uri="{FF2B5EF4-FFF2-40B4-BE49-F238E27FC236}">
                <a16:creationId xmlns:a16="http://schemas.microsoft.com/office/drawing/2014/main" id="{D3A1FF52-CF87-460D-A5C7-10D13E9A920A}"/>
              </a:ext>
            </a:extLst>
          </p:cNvPr>
          <p:cNvSpPr>
            <a:spLocks noGrp="1"/>
          </p:cNvSpPr>
          <p:nvPr>
            <p:ph type="dt" sz="half" idx="10"/>
          </p:nvPr>
        </p:nvSpPr>
        <p:spPr/>
        <p:txBody>
          <a:bodyPr/>
          <a:lstStyle/>
          <a:p>
            <a:fld id="{3D229AA9-E97D-476F-BEB7-579D9EF6D0F1}" type="datetime1">
              <a:rPr lang="en-US" smtClean="0"/>
              <a:t>5/15/2026</a:t>
            </a:fld>
            <a:endParaRPr lang="en-US"/>
          </a:p>
        </p:txBody>
      </p:sp>
      <p:sp>
        <p:nvSpPr>
          <p:cNvPr id="6" name="Slide Number Placeholder 5">
            <a:extLst>
              <a:ext uri="{FF2B5EF4-FFF2-40B4-BE49-F238E27FC236}">
                <a16:creationId xmlns:a16="http://schemas.microsoft.com/office/drawing/2014/main" id="{388C6C93-3E8E-52B2-70F6-0779F7D7AAE7}"/>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2</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Project Overview</a:t>
            </a:r>
            <a:endParaRPr lang="en-US" dirty="0"/>
          </a:p>
        </p:txBody>
      </p:sp>
      <p:sp>
        <p:nvSpPr>
          <p:cNvPr id="3" name="Content Placeholder 2"/>
          <p:cNvSpPr>
            <a:spLocks noGrp="1"/>
          </p:cNvSpPr>
          <p:nvPr>
            <p:ph idx="1"/>
          </p:nvPr>
        </p:nvSpPr>
        <p:spPr>
          <a:xfrm>
            <a:off x="0" y="838200"/>
            <a:ext cx="9144000" cy="5883275"/>
          </a:xfrm>
        </p:spPr>
        <p:txBody>
          <a:bodyPr/>
          <a:lstStyle/>
          <a:p>
            <a:pPr algn="just"/>
            <a:endParaRPr lang="en-US" sz="2000" b="1" dirty="0"/>
          </a:p>
          <a:p>
            <a:pPr algn="just"/>
            <a:r>
              <a:rPr lang="en-US" sz="2000" b="1" dirty="0"/>
              <a:t>Problem statement: </a:t>
            </a:r>
            <a:r>
              <a:rPr lang="en-US" sz="2000" dirty="0"/>
              <a:t>Skin disease diagnosis is usually performed manually by dermatologists, which can be time-consuming and may lead to inaccurate or delayed results, especially in areas with limited medical experts. Doctors need a faster and more reliable system to assist in identifying skin diseases from images. This project proposes a Machine Learning-based Skin Disease Detection System that allows doctors to upload skin images and receive the top two predicted diseases with confidence scores, helping improve diagnostic efficiency and accuracy.</a:t>
            </a:r>
            <a:endParaRPr lang="en-US" sz="2000" b="1" dirty="0"/>
          </a:p>
          <a:p>
            <a:pPr algn="just"/>
            <a:r>
              <a:rPr lang="en-US" sz="2000" b="1" dirty="0"/>
              <a:t>Objective</a:t>
            </a:r>
            <a:r>
              <a:rPr lang="en-US" sz="2000" dirty="0"/>
              <a:t>: To develop a Machine Learning-based Skin Disease Detection System that helps doctors identify skin diseases by analyzing uploaded skin images. The system aims to provide accurate predictions with confidence scores, improve diagnostic efficiency, reduce manual effort, and support doctors in making faster preliminary diagnoses through a secure and user-friendly web application.</a:t>
            </a:r>
            <a:endParaRPr lang="en-US" sz="2400" dirty="0"/>
          </a:p>
        </p:txBody>
      </p:sp>
      <p:sp>
        <p:nvSpPr>
          <p:cNvPr id="4" name="Date Placeholder 3">
            <a:extLst>
              <a:ext uri="{FF2B5EF4-FFF2-40B4-BE49-F238E27FC236}">
                <a16:creationId xmlns:a16="http://schemas.microsoft.com/office/drawing/2014/main" id="{17CF4701-DCE9-511E-22E6-FB00860F2304}"/>
              </a:ext>
            </a:extLst>
          </p:cNvPr>
          <p:cNvSpPr>
            <a:spLocks noGrp="1"/>
          </p:cNvSpPr>
          <p:nvPr>
            <p:ph type="dt" sz="half" idx="10"/>
          </p:nvPr>
        </p:nvSpPr>
        <p:spPr/>
        <p:txBody>
          <a:bodyPr/>
          <a:lstStyle/>
          <a:p>
            <a:fld id="{B300BA96-28CA-42BF-8CE2-937A0FCF959F}" type="datetime1">
              <a:rPr lang="en-US" smtClean="0"/>
              <a:t>5/15/2026</a:t>
            </a:fld>
            <a:endParaRPr lang="en-US"/>
          </a:p>
        </p:txBody>
      </p:sp>
      <p:sp>
        <p:nvSpPr>
          <p:cNvPr id="6" name="Slide Number Placeholder 5">
            <a:extLst>
              <a:ext uri="{FF2B5EF4-FFF2-40B4-BE49-F238E27FC236}">
                <a16:creationId xmlns:a16="http://schemas.microsoft.com/office/drawing/2014/main" id="{7852D1B3-7666-C950-2B75-7B8A9CFCE352}"/>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3</a:t>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8E068-4D23-F40C-8719-DFD8C6C693A0}"/>
              </a:ext>
            </a:extLst>
          </p:cNvPr>
          <p:cNvSpPr>
            <a:spLocks noGrp="1"/>
          </p:cNvSpPr>
          <p:nvPr>
            <p:ph type="title"/>
          </p:nvPr>
        </p:nvSpPr>
        <p:spPr/>
        <p:txBody>
          <a:bodyPr/>
          <a:lstStyle/>
          <a:p>
            <a:r>
              <a:rPr lang="en-US" sz="2800" b="1" dirty="0"/>
              <a:t>Project Overview</a:t>
            </a:r>
            <a:endParaRPr lang="en-IN" dirty="0"/>
          </a:p>
        </p:txBody>
      </p:sp>
      <p:sp>
        <p:nvSpPr>
          <p:cNvPr id="3" name="Content Placeholder 2">
            <a:extLst>
              <a:ext uri="{FF2B5EF4-FFF2-40B4-BE49-F238E27FC236}">
                <a16:creationId xmlns:a16="http://schemas.microsoft.com/office/drawing/2014/main" id="{EDEBCE06-A643-36BC-F221-897CA80C9411}"/>
              </a:ext>
            </a:extLst>
          </p:cNvPr>
          <p:cNvSpPr>
            <a:spLocks noGrp="1"/>
          </p:cNvSpPr>
          <p:nvPr>
            <p:ph idx="1"/>
          </p:nvPr>
        </p:nvSpPr>
        <p:spPr>
          <a:xfrm>
            <a:off x="0" y="838200"/>
            <a:ext cx="9144000" cy="5883275"/>
          </a:xfrm>
        </p:spPr>
        <p:txBody>
          <a:bodyPr/>
          <a:lstStyle/>
          <a:p>
            <a:r>
              <a:rPr lang="en-US" b="1" dirty="0"/>
              <a:t>Scope</a:t>
            </a:r>
            <a:r>
              <a:rPr lang="en-US" dirty="0"/>
              <a:t>: </a:t>
            </a:r>
          </a:p>
          <a:p>
            <a:pPr marL="0" indent="0">
              <a:buNone/>
            </a:pPr>
            <a:r>
              <a:rPr lang="en-US" sz="2000" b="1" dirty="0"/>
              <a:t>      </a:t>
            </a:r>
          </a:p>
          <a:p>
            <a:endParaRPr lang="en-IN" dirty="0"/>
          </a:p>
        </p:txBody>
      </p:sp>
      <p:sp>
        <p:nvSpPr>
          <p:cNvPr id="4" name="Date Placeholder 3">
            <a:extLst>
              <a:ext uri="{FF2B5EF4-FFF2-40B4-BE49-F238E27FC236}">
                <a16:creationId xmlns:a16="http://schemas.microsoft.com/office/drawing/2014/main" id="{0C53648D-83BD-2625-8CBA-DBB8E4D9EE3F}"/>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B3D55851-49C8-E28B-6C11-2A1C7547DD92}"/>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4</a:t>
            </a:fld>
            <a:endParaRPr lang="en-IN" dirty="0"/>
          </a:p>
        </p:txBody>
      </p:sp>
      <p:sp>
        <p:nvSpPr>
          <p:cNvPr id="8" name="TextBox 7">
            <a:extLst>
              <a:ext uri="{FF2B5EF4-FFF2-40B4-BE49-F238E27FC236}">
                <a16:creationId xmlns:a16="http://schemas.microsoft.com/office/drawing/2014/main" id="{5EC47A79-F31D-D646-49A8-58E4712D0EF1}"/>
              </a:ext>
            </a:extLst>
          </p:cNvPr>
          <p:cNvSpPr txBox="1"/>
          <p:nvPr/>
        </p:nvSpPr>
        <p:spPr>
          <a:xfrm>
            <a:off x="0" y="1203715"/>
            <a:ext cx="9144000" cy="3477875"/>
          </a:xfrm>
          <a:prstGeom prst="rect">
            <a:avLst/>
          </a:prstGeom>
          <a:noFill/>
        </p:spPr>
        <p:txBody>
          <a:bodyPr wrap="square">
            <a:spAutoFit/>
          </a:bodyPr>
          <a:lstStyle/>
          <a:p>
            <a:pPr>
              <a:buNone/>
            </a:pPr>
            <a:endParaRPr lang="en-US" sz="2000" dirty="0"/>
          </a:p>
          <a:p>
            <a:pPr>
              <a:buNone/>
            </a:pPr>
            <a:r>
              <a:rPr lang="en-US" sz="2000" dirty="0"/>
              <a:t>The project includes a web-based skin disease detection system that allows doctors to securely log in, upload dermatoscopic skin images, and receive the top two predicted diseases with confidence scores using a CNN-based MobileNetV2 model. It covers image preprocessing, disease classification, user authentication, non-skin image validation, and result display through an interactive Flask-based interface.</a:t>
            </a:r>
          </a:p>
          <a:p>
            <a:pPr>
              <a:buNone/>
            </a:pPr>
            <a:endParaRPr lang="en-US" sz="2000" dirty="0"/>
          </a:p>
          <a:p>
            <a:pPr>
              <a:buNone/>
            </a:pPr>
            <a:r>
              <a:rPr lang="en-US" sz="2000" dirty="0"/>
              <a:t>The project does not include real-time camera diagnosis, treatment recommendations, hospital management integration, patient history management, or large-scale clinical deployment.</a:t>
            </a:r>
          </a:p>
        </p:txBody>
      </p:sp>
    </p:spTree>
    <p:extLst>
      <p:ext uri="{BB962C8B-B14F-4D97-AF65-F5344CB8AC3E}">
        <p14:creationId xmlns:p14="http://schemas.microsoft.com/office/powerpoint/2010/main" val="2693590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0402A-84AE-BA1F-DFBD-273624109C9F}"/>
              </a:ext>
            </a:extLst>
          </p:cNvPr>
          <p:cNvSpPr>
            <a:spLocks noGrp="1"/>
          </p:cNvSpPr>
          <p:nvPr>
            <p:ph type="title"/>
          </p:nvPr>
        </p:nvSpPr>
        <p:spPr/>
        <p:txBody>
          <a:bodyPr/>
          <a:lstStyle/>
          <a:p>
            <a:r>
              <a:rPr lang="en-US" sz="3200" b="1" dirty="0"/>
              <a:t>Project Overview</a:t>
            </a:r>
            <a:endParaRPr lang="en-IN" dirty="0"/>
          </a:p>
        </p:txBody>
      </p:sp>
      <p:sp>
        <p:nvSpPr>
          <p:cNvPr id="3" name="Content Placeholder 2">
            <a:extLst>
              <a:ext uri="{FF2B5EF4-FFF2-40B4-BE49-F238E27FC236}">
                <a16:creationId xmlns:a16="http://schemas.microsoft.com/office/drawing/2014/main" id="{F5706E64-8304-1B92-50E7-7B74D8A5F1A4}"/>
              </a:ext>
            </a:extLst>
          </p:cNvPr>
          <p:cNvSpPr>
            <a:spLocks noGrp="1"/>
          </p:cNvSpPr>
          <p:nvPr>
            <p:ph idx="1"/>
          </p:nvPr>
        </p:nvSpPr>
        <p:spPr>
          <a:xfrm>
            <a:off x="0" y="866267"/>
            <a:ext cx="9144000" cy="5883274"/>
          </a:xfrm>
        </p:spPr>
        <p:txBody>
          <a:bodyPr/>
          <a:lstStyle/>
          <a:p>
            <a:r>
              <a:rPr lang="en-US" b="1" dirty="0"/>
              <a:t>Stakeholders</a:t>
            </a:r>
            <a:r>
              <a:rPr lang="en-US" dirty="0"/>
              <a:t>: </a:t>
            </a:r>
            <a:r>
              <a:rPr lang="en-US" sz="2000" dirty="0"/>
              <a:t>Key stakeholders involved in the project include:</a:t>
            </a:r>
          </a:p>
          <a:p>
            <a:r>
              <a:rPr lang="en-US" sz="2000" b="1" dirty="0"/>
              <a:t>Doctors/Dermatologists</a:t>
            </a:r>
            <a:r>
              <a:rPr lang="en-US" sz="2000" dirty="0"/>
              <a:t> – Use the system to assist in skin disease diagnosis</a:t>
            </a:r>
          </a:p>
          <a:p>
            <a:r>
              <a:rPr lang="en-US" sz="2000" b="1" dirty="0"/>
              <a:t>Healthcare Centers/Hospitals</a:t>
            </a:r>
            <a:r>
              <a:rPr lang="en-US" sz="2000" dirty="0"/>
              <a:t> – Can use the system to improve diagnostic efficiency </a:t>
            </a:r>
          </a:p>
          <a:p>
            <a:r>
              <a:rPr lang="en-US" sz="2000" b="1" dirty="0"/>
              <a:t>Development Team</a:t>
            </a:r>
            <a:r>
              <a:rPr lang="en-US" sz="2000" dirty="0"/>
              <a:t> – Responsible for designing, developing, and maintaining the system</a:t>
            </a:r>
          </a:p>
          <a:p>
            <a:r>
              <a:rPr lang="en-US" b="1" dirty="0"/>
              <a:t>Timeline</a:t>
            </a:r>
            <a:r>
              <a:rPr lang="en-US" dirty="0"/>
              <a:t>:</a:t>
            </a:r>
          </a:p>
          <a:p>
            <a:endParaRPr lang="en-IN" dirty="0"/>
          </a:p>
        </p:txBody>
      </p:sp>
      <p:sp>
        <p:nvSpPr>
          <p:cNvPr id="4" name="Date Placeholder 3">
            <a:extLst>
              <a:ext uri="{FF2B5EF4-FFF2-40B4-BE49-F238E27FC236}">
                <a16:creationId xmlns:a16="http://schemas.microsoft.com/office/drawing/2014/main" id="{3C063117-CE2B-DB20-6C7E-E70EB0D94475}"/>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73481C62-BE1A-071E-0DE0-08C2B115D90A}"/>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5</a:t>
            </a:fld>
            <a:endParaRPr lang="en-IN" dirty="0"/>
          </a:p>
        </p:txBody>
      </p:sp>
      <p:graphicFrame>
        <p:nvGraphicFramePr>
          <p:cNvPr id="7" name="Table 6">
            <a:extLst>
              <a:ext uri="{FF2B5EF4-FFF2-40B4-BE49-F238E27FC236}">
                <a16:creationId xmlns:a16="http://schemas.microsoft.com/office/drawing/2014/main" id="{A9210986-D137-B6FC-A420-C67AD54F579E}"/>
              </a:ext>
            </a:extLst>
          </p:cNvPr>
          <p:cNvGraphicFramePr>
            <a:graphicFrameLocks noGrp="1"/>
          </p:cNvGraphicFramePr>
          <p:nvPr/>
        </p:nvGraphicFramePr>
        <p:xfrm>
          <a:off x="457200" y="3451701"/>
          <a:ext cx="8229600" cy="365760"/>
        </p:xfrm>
        <a:graphic>
          <a:graphicData uri="http://schemas.openxmlformats.org/drawingml/2006/table">
            <a:tbl>
              <a:tblPr/>
              <a:tblGrid>
                <a:gridCol w="8229600">
                  <a:extLst>
                    <a:ext uri="{9D8B030D-6E8A-4147-A177-3AD203B41FA5}">
                      <a16:colId xmlns:a16="http://schemas.microsoft.com/office/drawing/2014/main" val="441173558"/>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367338202"/>
                  </a:ext>
                </a:extLst>
              </a:tr>
            </a:tbl>
          </a:graphicData>
        </a:graphic>
      </p:graphicFrame>
      <p:graphicFrame>
        <p:nvGraphicFramePr>
          <p:cNvPr id="9" name="Table 8">
            <a:extLst>
              <a:ext uri="{FF2B5EF4-FFF2-40B4-BE49-F238E27FC236}">
                <a16:creationId xmlns:a16="http://schemas.microsoft.com/office/drawing/2014/main" id="{E0691519-D158-1688-68A0-1DBF5A1E0959}"/>
              </a:ext>
            </a:extLst>
          </p:cNvPr>
          <p:cNvGraphicFramePr>
            <a:graphicFrameLocks noGrp="1"/>
          </p:cNvGraphicFramePr>
          <p:nvPr/>
        </p:nvGraphicFramePr>
        <p:xfrm>
          <a:off x="457200" y="3451701"/>
          <a:ext cx="8229600" cy="365760"/>
        </p:xfrm>
        <a:graphic>
          <a:graphicData uri="http://schemas.openxmlformats.org/drawingml/2006/table">
            <a:tbl>
              <a:tblPr/>
              <a:tblGrid>
                <a:gridCol w="8229600">
                  <a:extLst>
                    <a:ext uri="{9D8B030D-6E8A-4147-A177-3AD203B41FA5}">
                      <a16:colId xmlns:a16="http://schemas.microsoft.com/office/drawing/2014/main" val="3561583224"/>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910563781"/>
                  </a:ext>
                </a:extLst>
              </a:tr>
            </a:tbl>
          </a:graphicData>
        </a:graphic>
      </p:graphicFrame>
      <p:graphicFrame>
        <p:nvGraphicFramePr>
          <p:cNvPr id="11" name="Table 10">
            <a:extLst>
              <a:ext uri="{FF2B5EF4-FFF2-40B4-BE49-F238E27FC236}">
                <a16:creationId xmlns:a16="http://schemas.microsoft.com/office/drawing/2014/main" id="{43F1217F-4F6E-0BBE-FF2B-EEEE14F8922B}"/>
              </a:ext>
            </a:extLst>
          </p:cNvPr>
          <p:cNvGraphicFramePr>
            <a:graphicFrameLocks noGrp="1"/>
          </p:cNvGraphicFramePr>
          <p:nvPr>
            <p:extLst>
              <p:ext uri="{D42A27DB-BD31-4B8C-83A1-F6EECF244321}">
                <p14:modId xmlns:p14="http://schemas.microsoft.com/office/powerpoint/2010/main" val="1954001049"/>
              </p:ext>
            </p:extLst>
          </p:nvPr>
        </p:nvGraphicFramePr>
        <p:xfrm>
          <a:off x="457200" y="3700621"/>
          <a:ext cx="8229600" cy="365760"/>
        </p:xfrm>
        <a:graphic>
          <a:graphicData uri="http://schemas.openxmlformats.org/drawingml/2006/table">
            <a:tbl>
              <a:tblPr/>
              <a:tblGrid>
                <a:gridCol w="8229600">
                  <a:extLst>
                    <a:ext uri="{9D8B030D-6E8A-4147-A177-3AD203B41FA5}">
                      <a16:colId xmlns:a16="http://schemas.microsoft.com/office/drawing/2014/main" val="1230541793"/>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070685444"/>
                  </a:ext>
                </a:extLst>
              </a:tr>
            </a:tbl>
          </a:graphicData>
        </a:graphic>
      </p:graphicFrame>
      <p:graphicFrame>
        <p:nvGraphicFramePr>
          <p:cNvPr id="8" name="Table 7">
            <a:extLst>
              <a:ext uri="{FF2B5EF4-FFF2-40B4-BE49-F238E27FC236}">
                <a16:creationId xmlns:a16="http://schemas.microsoft.com/office/drawing/2014/main" id="{CE5BCD45-8649-440E-32E0-A4D7A5152A2A}"/>
              </a:ext>
            </a:extLst>
          </p:cNvPr>
          <p:cNvGraphicFramePr>
            <a:graphicFrameLocks noGrp="1"/>
          </p:cNvGraphicFramePr>
          <p:nvPr>
            <p:extLst>
              <p:ext uri="{D42A27DB-BD31-4B8C-83A1-F6EECF244321}">
                <p14:modId xmlns:p14="http://schemas.microsoft.com/office/powerpoint/2010/main" val="3191822299"/>
              </p:ext>
            </p:extLst>
          </p:nvPr>
        </p:nvGraphicFramePr>
        <p:xfrm>
          <a:off x="252984" y="3796030"/>
          <a:ext cx="8458200" cy="2560320"/>
        </p:xfrm>
        <a:graphic>
          <a:graphicData uri="http://schemas.openxmlformats.org/drawingml/2006/table">
            <a:tbl>
              <a:tblPr firstRow="1" bandRow="1">
                <a:tableStyleId>{21E4AEA4-8DFA-4A89-87EB-49C32662AFE0}</a:tableStyleId>
              </a:tblPr>
              <a:tblGrid>
                <a:gridCol w="1981200">
                  <a:extLst>
                    <a:ext uri="{9D8B030D-6E8A-4147-A177-3AD203B41FA5}">
                      <a16:colId xmlns:a16="http://schemas.microsoft.com/office/drawing/2014/main" val="1013780930"/>
                    </a:ext>
                  </a:extLst>
                </a:gridCol>
                <a:gridCol w="4343400">
                  <a:extLst>
                    <a:ext uri="{9D8B030D-6E8A-4147-A177-3AD203B41FA5}">
                      <a16:colId xmlns:a16="http://schemas.microsoft.com/office/drawing/2014/main" val="317146028"/>
                    </a:ext>
                  </a:extLst>
                </a:gridCol>
                <a:gridCol w="2133600">
                  <a:extLst>
                    <a:ext uri="{9D8B030D-6E8A-4147-A177-3AD203B41FA5}">
                      <a16:colId xmlns:a16="http://schemas.microsoft.com/office/drawing/2014/main" val="1633248347"/>
                    </a:ext>
                  </a:extLst>
                </a:gridCol>
              </a:tblGrid>
              <a:tr h="317670">
                <a:tc>
                  <a:txBody>
                    <a:bodyPr/>
                    <a:lstStyle/>
                    <a:p>
                      <a:pPr algn="ctr"/>
                      <a:r>
                        <a:rPr lang="en-US" dirty="0"/>
                        <a:t>Phase</a:t>
                      </a:r>
                      <a:endParaRPr lang="en-IN" dirty="0"/>
                    </a:p>
                  </a:txBody>
                  <a:tcPr/>
                </a:tc>
                <a:tc>
                  <a:txBody>
                    <a:bodyPr/>
                    <a:lstStyle/>
                    <a:p>
                      <a:pPr algn="ctr"/>
                      <a:r>
                        <a:rPr lang="en-US" dirty="0"/>
                        <a:t>Task</a:t>
                      </a:r>
                      <a:endParaRPr lang="en-IN" dirty="0"/>
                    </a:p>
                  </a:txBody>
                  <a:tcPr/>
                </a:tc>
                <a:tc>
                  <a:txBody>
                    <a:bodyPr/>
                    <a:lstStyle/>
                    <a:p>
                      <a:pPr algn="ctr"/>
                      <a:r>
                        <a:rPr lang="en-US" dirty="0"/>
                        <a:t>Time</a:t>
                      </a:r>
                      <a:endParaRPr lang="en-IN" dirty="0"/>
                    </a:p>
                  </a:txBody>
                  <a:tcPr/>
                </a:tc>
                <a:extLst>
                  <a:ext uri="{0D108BD9-81ED-4DB2-BD59-A6C34878D82A}">
                    <a16:rowId xmlns:a16="http://schemas.microsoft.com/office/drawing/2014/main" val="1905048251"/>
                  </a:ext>
                </a:extLst>
              </a:tr>
              <a:tr h="317670">
                <a:tc>
                  <a:txBody>
                    <a:bodyPr/>
                    <a:lstStyle/>
                    <a:p>
                      <a:pPr algn="ctr"/>
                      <a:r>
                        <a:rPr lang="en-US" dirty="0"/>
                        <a:t>Phase 1</a:t>
                      </a:r>
                      <a:endParaRPr lang="en-IN" dirty="0"/>
                    </a:p>
                  </a:txBody>
                  <a:tcPr/>
                </a:tc>
                <a:tc>
                  <a:txBody>
                    <a:bodyPr/>
                    <a:lstStyle/>
                    <a:p>
                      <a:pPr algn="ctr"/>
                      <a:r>
                        <a:rPr lang="en-IN" sz="1800" dirty="0"/>
                        <a:t>Problem Research &amp; Dataset Collection </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t>Week 1-2 </a:t>
                      </a:r>
                      <a:endParaRPr lang="en-US" sz="1800" dirty="0"/>
                    </a:p>
                  </a:txBody>
                  <a:tcPr/>
                </a:tc>
                <a:extLst>
                  <a:ext uri="{0D108BD9-81ED-4DB2-BD59-A6C34878D82A}">
                    <a16:rowId xmlns:a16="http://schemas.microsoft.com/office/drawing/2014/main" val="4118026197"/>
                  </a:ext>
                </a:extLst>
              </a:tr>
              <a:tr h="317670">
                <a:tc>
                  <a:txBody>
                    <a:bodyPr/>
                    <a:lstStyle/>
                    <a:p>
                      <a:pPr algn="ctr"/>
                      <a:r>
                        <a:rPr lang="en-US" dirty="0"/>
                        <a:t>Phase 2</a:t>
                      </a:r>
                      <a:endParaRPr lang="en-IN" dirty="0"/>
                    </a:p>
                  </a:txBody>
                  <a:tcPr/>
                </a:tc>
                <a:tc>
                  <a:txBody>
                    <a:bodyPr/>
                    <a:lstStyle/>
                    <a:p>
                      <a:pPr algn="ctr"/>
                      <a:r>
                        <a:rPr lang="en-IN" sz="1800" dirty="0"/>
                        <a:t>Data Preprocessing &amp; Image Cleaning </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t>Week 3</a:t>
                      </a:r>
                      <a:endParaRPr lang="en-US" sz="1800" dirty="0"/>
                    </a:p>
                  </a:txBody>
                  <a:tcPr/>
                </a:tc>
                <a:extLst>
                  <a:ext uri="{0D108BD9-81ED-4DB2-BD59-A6C34878D82A}">
                    <a16:rowId xmlns:a16="http://schemas.microsoft.com/office/drawing/2014/main" val="1229894914"/>
                  </a:ext>
                </a:extLst>
              </a:tr>
              <a:tr h="317670">
                <a:tc>
                  <a:txBody>
                    <a:bodyPr/>
                    <a:lstStyle/>
                    <a:p>
                      <a:pPr algn="ctr"/>
                      <a:r>
                        <a:rPr lang="en-US" dirty="0"/>
                        <a:t>Phase 3</a:t>
                      </a:r>
                      <a:endParaRPr lang="en-IN" dirty="0"/>
                    </a:p>
                  </a:txBody>
                  <a:tcPr/>
                </a:tc>
                <a:tc>
                  <a:txBody>
                    <a:bodyPr/>
                    <a:lstStyle/>
                    <a:p>
                      <a:pPr algn="ctr"/>
                      <a:r>
                        <a:rPr lang="en-IN" sz="1800" dirty="0"/>
                        <a:t>Model Selection &amp; Training </a:t>
                      </a:r>
                      <a:endParaRPr lang="en-IN" dirty="0"/>
                    </a:p>
                  </a:txBody>
                  <a:tcPr/>
                </a:tc>
                <a:tc>
                  <a:txBody>
                    <a:bodyPr/>
                    <a:lstStyle/>
                    <a:p>
                      <a:pPr algn="ctr"/>
                      <a:r>
                        <a:rPr lang="en-US" dirty="0"/>
                        <a:t>Week 4-5</a:t>
                      </a:r>
                      <a:endParaRPr lang="en-IN" dirty="0"/>
                    </a:p>
                  </a:txBody>
                  <a:tcPr/>
                </a:tc>
                <a:extLst>
                  <a:ext uri="{0D108BD9-81ED-4DB2-BD59-A6C34878D82A}">
                    <a16:rowId xmlns:a16="http://schemas.microsoft.com/office/drawing/2014/main" val="1074751858"/>
                  </a:ext>
                </a:extLst>
              </a:tr>
              <a:tr h="317670">
                <a:tc>
                  <a:txBody>
                    <a:bodyPr/>
                    <a:lstStyle/>
                    <a:p>
                      <a:pPr algn="ctr"/>
                      <a:r>
                        <a:rPr lang="en-US" dirty="0"/>
                        <a:t>Phase 4</a:t>
                      </a:r>
                      <a:endParaRPr lang="en-IN" dirty="0"/>
                    </a:p>
                  </a:txBody>
                  <a:tcPr/>
                </a:tc>
                <a:tc>
                  <a:txBody>
                    <a:bodyPr/>
                    <a:lstStyle/>
                    <a:p>
                      <a:pPr algn="ctr"/>
                      <a:r>
                        <a:rPr lang="en-US" sz="1800" dirty="0"/>
                        <a:t>M</a:t>
                      </a:r>
                      <a:r>
                        <a:rPr lang="en-IN" sz="1800" dirty="0" err="1"/>
                        <a:t>odel</a:t>
                      </a:r>
                      <a:r>
                        <a:rPr lang="en-IN" sz="1800" dirty="0"/>
                        <a:t> Testing &amp; Accuracy Improvement</a:t>
                      </a:r>
                      <a:endParaRPr lang="en-IN" dirty="0"/>
                    </a:p>
                  </a:txBody>
                  <a:tcPr/>
                </a:tc>
                <a:tc>
                  <a:txBody>
                    <a:bodyPr/>
                    <a:lstStyle/>
                    <a:p>
                      <a:pPr algn="ctr"/>
                      <a:r>
                        <a:rPr lang="en-US" dirty="0"/>
                        <a:t>Week 6</a:t>
                      </a:r>
                      <a:endParaRPr lang="en-IN" dirty="0"/>
                    </a:p>
                  </a:txBody>
                  <a:tcPr/>
                </a:tc>
                <a:extLst>
                  <a:ext uri="{0D108BD9-81ED-4DB2-BD59-A6C34878D82A}">
                    <a16:rowId xmlns:a16="http://schemas.microsoft.com/office/drawing/2014/main" val="97216031"/>
                  </a:ext>
                </a:extLst>
              </a:tr>
              <a:tr h="317670">
                <a:tc>
                  <a:txBody>
                    <a:bodyPr/>
                    <a:lstStyle/>
                    <a:p>
                      <a:pPr algn="ctr"/>
                      <a:r>
                        <a:rPr lang="en-US" dirty="0"/>
                        <a:t>Phase 5</a:t>
                      </a:r>
                      <a:endParaRPr lang="en-IN" dirty="0"/>
                    </a:p>
                  </a:txBody>
                  <a:tcPr/>
                </a:tc>
                <a:tc>
                  <a:txBody>
                    <a:bodyPr/>
                    <a:lstStyle/>
                    <a:p>
                      <a:pPr algn="ctr"/>
                      <a:r>
                        <a:rPr lang="en-IN" sz="1800" dirty="0"/>
                        <a:t>Interface / Application Development </a:t>
                      </a:r>
                      <a:endParaRPr lang="en-IN" dirty="0"/>
                    </a:p>
                  </a:txBody>
                  <a:tcPr/>
                </a:tc>
                <a:tc>
                  <a:txBody>
                    <a:bodyPr/>
                    <a:lstStyle/>
                    <a:p>
                      <a:pPr algn="ctr"/>
                      <a:r>
                        <a:rPr lang="en-US" dirty="0"/>
                        <a:t>Week 7</a:t>
                      </a:r>
                      <a:endParaRPr lang="en-IN" dirty="0"/>
                    </a:p>
                  </a:txBody>
                  <a:tcPr/>
                </a:tc>
                <a:extLst>
                  <a:ext uri="{0D108BD9-81ED-4DB2-BD59-A6C34878D82A}">
                    <a16:rowId xmlns:a16="http://schemas.microsoft.com/office/drawing/2014/main" val="2859565062"/>
                  </a:ext>
                </a:extLst>
              </a:tr>
              <a:tr h="317670">
                <a:tc>
                  <a:txBody>
                    <a:bodyPr/>
                    <a:lstStyle/>
                    <a:p>
                      <a:pPr algn="ctr"/>
                      <a:r>
                        <a:rPr lang="en-US" dirty="0"/>
                        <a:t>Phase 6</a:t>
                      </a:r>
                      <a:endParaRPr lang="en-IN" dirty="0"/>
                    </a:p>
                  </a:txBody>
                  <a:tcPr/>
                </a:tc>
                <a:tc>
                  <a:txBody>
                    <a:bodyPr/>
                    <a:lstStyle/>
                    <a:p>
                      <a:pPr algn="ctr"/>
                      <a:r>
                        <a:rPr lang="en-IN" sz="1800" dirty="0"/>
                        <a:t>Final Testing &amp; Documentation </a:t>
                      </a:r>
                      <a:endParaRPr lang="en-IN" dirty="0"/>
                    </a:p>
                  </a:txBody>
                  <a:tcPr/>
                </a:tc>
                <a:tc>
                  <a:txBody>
                    <a:bodyPr/>
                    <a:lstStyle/>
                    <a:p>
                      <a:pPr algn="ctr"/>
                      <a:r>
                        <a:rPr lang="en-US" dirty="0"/>
                        <a:t>Week 8</a:t>
                      </a:r>
                      <a:endParaRPr lang="en-IN" dirty="0"/>
                    </a:p>
                  </a:txBody>
                  <a:tcPr/>
                </a:tc>
                <a:extLst>
                  <a:ext uri="{0D108BD9-81ED-4DB2-BD59-A6C34878D82A}">
                    <a16:rowId xmlns:a16="http://schemas.microsoft.com/office/drawing/2014/main" val="1531869089"/>
                  </a:ext>
                </a:extLst>
              </a:tr>
            </a:tbl>
          </a:graphicData>
        </a:graphic>
      </p:graphicFrame>
    </p:spTree>
    <p:extLst>
      <p:ext uri="{BB962C8B-B14F-4D97-AF65-F5344CB8AC3E}">
        <p14:creationId xmlns:p14="http://schemas.microsoft.com/office/powerpoint/2010/main" val="2946217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t>Requirement Gathering &amp; Data Collection</a:t>
            </a:r>
          </a:p>
        </p:txBody>
      </p:sp>
      <p:sp>
        <p:nvSpPr>
          <p:cNvPr id="3" name="Content Placeholder 2"/>
          <p:cNvSpPr>
            <a:spLocks noGrp="1"/>
          </p:cNvSpPr>
          <p:nvPr>
            <p:ph idx="1"/>
          </p:nvPr>
        </p:nvSpPr>
        <p:spPr>
          <a:xfrm>
            <a:off x="0" y="838199"/>
            <a:ext cx="9144000" cy="5883275"/>
          </a:xfrm>
        </p:spPr>
        <p:txBody>
          <a:bodyPr/>
          <a:lstStyle/>
          <a:p>
            <a:r>
              <a:rPr lang="en-US" sz="2000" b="1" dirty="0"/>
              <a:t>Sources of Data</a:t>
            </a:r>
          </a:p>
          <a:p>
            <a:r>
              <a:rPr lang="en-US" sz="2000" dirty="0"/>
              <a:t>• </a:t>
            </a:r>
            <a:r>
              <a:rPr lang="en-US" sz="2000" b="1" dirty="0"/>
              <a:t>Existing Datasets:</a:t>
            </a:r>
            <a:r>
              <a:rPr lang="en-US" sz="2000" dirty="0"/>
              <a:t> HAM10000 dermatoscopic skin image dataset obtained from Kaggle and research platforms</a:t>
            </a:r>
          </a:p>
          <a:p>
            <a:r>
              <a:rPr lang="en-US" sz="2000" dirty="0"/>
              <a:t>• </a:t>
            </a:r>
            <a:r>
              <a:rPr lang="en-US" sz="2000" b="1" dirty="0"/>
              <a:t>Literature Review:</a:t>
            </a:r>
            <a:r>
              <a:rPr lang="en-US" sz="2000" dirty="0"/>
              <a:t> Research papers and journals on AI and deep learning-based skin disease detection</a:t>
            </a:r>
          </a:p>
          <a:p>
            <a:r>
              <a:rPr lang="en-US" sz="2000" dirty="0"/>
              <a:t>• </a:t>
            </a:r>
            <a:r>
              <a:rPr lang="en-US" sz="2000" b="1" dirty="0"/>
              <a:t>Medical References:</a:t>
            </a:r>
            <a:r>
              <a:rPr lang="en-US" sz="2000" dirty="0"/>
              <a:t> Dermatology websites, medical articles, and online healthcare resources for disease-related information</a:t>
            </a:r>
          </a:p>
          <a:p>
            <a:r>
              <a:rPr lang="en-US" sz="2000" b="1" dirty="0"/>
              <a:t>Key Functional &amp; Non-Functional Requirements:</a:t>
            </a:r>
          </a:p>
          <a:p>
            <a:endParaRPr lang="en-US" sz="2000" dirty="0"/>
          </a:p>
        </p:txBody>
      </p:sp>
      <p:sp>
        <p:nvSpPr>
          <p:cNvPr id="4" name="Date Placeholder 3">
            <a:extLst>
              <a:ext uri="{FF2B5EF4-FFF2-40B4-BE49-F238E27FC236}">
                <a16:creationId xmlns:a16="http://schemas.microsoft.com/office/drawing/2014/main" id="{770F09FB-984F-279E-C7E4-B1C066E5D8AB}"/>
              </a:ext>
            </a:extLst>
          </p:cNvPr>
          <p:cNvSpPr>
            <a:spLocks noGrp="1"/>
          </p:cNvSpPr>
          <p:nvPr>
            <p:ph type="dt" sz="half" idx="10"/>
          </p:nvPr>
        </p:nvSpPr>
        <p:spPr/>
        <p:txBody>
          <a:bodyPr/>
          <a:lstStyle/>
          <a:p>
            <a:fld id="{453F4BF9-92DC-4C99-B960-656559E2FCAC}" type="datetime1">
              <a:rPr lang="en-US" smtClean="0"/>
              <a:t>5/15/2026</a:t>
            </a:fld>
            <a:endParaRPr lang="en-US"/>
          </a:p>
        </p:txBody>
      </p:sp>
      <p:sp>
        <p:nvSpPr>
          <p:cNvPr id="6" name="Slide Number Placeholder 5">
            <a:extLst>
              <a:ext uri="{FF2B5EF4-FFF2-40B4-BE49-F238E27FC236}">
                <a16:creationId xmlns:a16="http://schemas.microsoft.com/office/drawing/2014/main" id="{D5748A0F-27AB-7C64-E19A-28B4698FF080}"/>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6</a:t>
            </a:fld>
            <a:endParaRPr lang="en-IN" dirty="0"/>
          </a:p>
        </p:txBody>
      </p:sp>
      <p:graphicFrame>
        <p:nvGraphicFramePr>
          <p:cNvPr id="10" name="Table 9">
            <a:extLst>
              <a:ext uri="{FF2B5EF4-FFF2-40B4-BE49-F238E27FC236}">
                <a16:creationId xmlns:a16="http://schemas.microsoft.com/office/drawing/2014/main" id="{76DF5661-3C98-3857-36AA-9D0EBD61FCE1}"/>
              </a:ext>
            </a:extLst>
          </p:cNvPr>
          <p:cNvGraphicFramePr>
            <a:graphicFrameLocks noGrp="1"/>
          </p:cNvGraphicFramePr>
          <p:nvPr>
            <p:extLst>
              <p:ext uri="{D42A27DB-BD31-4B8C-83A1-F6EECF244321}">
                <p14:modId xmlns:p14="http://schemas.microsoft.com/office/powerpoint/2010/main" val="3557724986"/>
              </p:ext>
            </p:extLst>
          </p:nvPr>
        </p:nvGraphicFramePr>
        <p:xfrm>
          <a:off x="228600" y="3632019"/>
          <a:ext cx="8610600" cy="2733040"/>
        </p:xfrm>
        <a:graphic>
          <a:graphicData uri="http://schemas.openxmlformats.org/drawingml/2006/table">
            <a:tbl>
              <a:tblPr firstRow="1" bandRow="1">
                <a:tableStyleId>{21E4AEA4-8DFA-4A89-87EB-49C32662AFE0}</a:tableStyleId>
              </a:tblPr>
              <a:tblGrid>
                <a:gridCol w="4305300">
                  <a:extLst>
                    <a:ext uri="{9D8B030D-6E8A-4147-A177-3AD203B41FA5}">
                      <a16:colId xmlns:a16="http://schemas.microsoft.com/office/drawing/2014/main" val="580101624"/>
                    </a:ext>
                  </a:extLst>
                </a:gridCol>
                <a:gridCol w="4305300">
                  <a:extLst>
                    <a:ext uri="{9D8B030D-6E8A-4147-A177-3AD203B41FA5}">
                      <a16:colId xmlns:a16="http://schemas.microsoft.com/office/drawing/2014/main" val="3314590868"/>
                    </a:ext>
                  </a:extLst>
                </a:gridCol>
              </a:tblGrid>
              <a:tr h="370840">
                <a:tc>
                  <a:txBody>
                    <a:bodyPr/>
                    <a:lstStyle/>
                    <a:p>
                      <a:pPr algn="ctr"/>
                      <a:r>
                        <a:rPr lang="en-US" sz="1800" b="1" dirty="0"/>
                        <a:t>Key Functional </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Non-Functional Requirements</a:t>
                      </a:r>
                    </a:p>
                  </a:txBody>
                  <a:tcPr/>
                </a:tc>
                <a:extLst>
                  <a:ext uri="{0D108BD9-81ED-4DB2-BD59-A6C34878D82A}">
                    <a16:rowId xmlns:a16="http://schemas.microsoft.com/office/drawing/2014/main" val="1823535162"/>
                  </a:ext>
                </a:extLst>
              </a:tr>
              <a:tr h="370840">
                <a:tc>
                  <a:txBody>
                    <a:bodyPr/>
                    <a:lstStyle/>
                    <a:p>
                      <a:r>
                        <a:rPr lang="en-IN" dirty="0"/>
                        <a:t>Upload </a:t>
                      </a:r>
                      <a:r>
                        <a:rPr lang="en-IN" dirty="0" err="1"/>
                        <a:t>dermatoscopic</a:t>
                      </a:r>
                      <a:r>
                        <a:rPr lang="en-IN" dirty="0"/>
                        <a:t>/skin images.</a:t>
                      </a:r>
                    </a:p>
                  </a:txBody>
                  <a:tcPr/>
                </a:tc>
                <a:tc>
                  <a:txBody>
                    <a:bodyPr/>
                    <a:lstStyle/>
                    <a:p>
                      <a:r>
                        <a:rPr lang="en-US" dirty="0"/>
                        <a:t>High prediction </a:t>
                      </a:r>
                      <a:r>
                        <a:rPr lang="en-US" b="0" dirty="0"/>
                        <a:t>accuracy and reliability.</a:t>
                      </a:r>
                      <a:endParaRPr lang="en-IN" b="0" dirty="0"/>
                    </a:p>
                  </a:txBody>
                  <a:tcPr/>
                </a:tc>
                <a:extLst>
                  <a:ext uri="{0D108BD9-81ED-4DB2-BD59-A6C34878D82A}">
                    <a16:rowId xmlns:a16="http://schemas.microsoft.com/office/drawing/2014/main" val="2342678455"/>
                  </a:ext>
                </a:extLst>
              </a:tr>
              <a:tr h="370840">
                <a:tc>
                  <a:txBody>
                    <a:bodyPr/>
                    <a:lstStyle/>
                    <a:p>
                      <a:r>
                        <a:rPr lang="en-IN" dirty="0"/>
                        <a:t>Image preprocessing (resize, normalization).</a:t>
                      </a:r>
                    </a:p>
                  </a:txBody>
                  <a:tcPr/>
                </a:tc>
                <a:tc>
                  <a:txBody>
                    <a:bodyPr/>
                    <a:lstStyle/>
                    <a:p>
                      <a:r>
                        <a:rPr lang="en-US" dirty="0"/>
                        <a:t>Fast response time for image processing.</a:t>
                      </a:r>
                      <a:endParaRPr lang="en-IN" dirty="0"/>
                    </a:p>
                  </a:txBody>
                  <a:tcPr/>
                </a:tc>
                <a:extLst>
                  <a:ext uri="{0D108BD9-81ED-4DB2-BD59-A6C34878D82A}">
                    <a16:rowId xmlns:a16="http://schemas.microsoft.com/office/drawing/2014/main" val="3901127553"/>
                  </a:ext>
                </a:extLst>
              </a:tr>
              <a:tr h="370840">
                <a:tc>
                  <a:txBody>
                    <a:bodyPr/>
                    <a:lstStyle/>
                    <a:p>
                      <a:r>
                        <a:rPr lang="en-US" dirty="0"/>
                        <a:t>Disease classification using </a:t>
                      </a:r>
                      <a:r>
                        <a:rPr lang="en-US" sz="1600" b="0" dirty="0"/>
                        <a:t>machine learning / deep learning model.</a:t>
                      </a:r>
                      <a:endParaRPr lang="en-IN" sz="1600" b="0" dirty="0"/>
                    </a:p>
                  </a:txBody>
                  <a:tcPr/>
                </a:tc>
                <a:tc>
                  <a:txBody>
                    <a:bodyPr/>
                    <a:lstStyle/>
                    <a:p>
                      <a:r>
                        <a:rPr lang="en-US" dirty="0"/>
                        <a:t>Secure handling of uploaded images.</a:t>
                      </a:r>
                      <a:endParaRPr lang="en-IN" dirty="0"/>
                    </a:p>
                  </a:txBody>
                  <a:tcPr/>
                </a:tc>
                <a:extLst>
                  <a:ext uri="{0D108BD9-81ED-4DB2-BD59-A6C34878D82A}">
                    <a16:rowId xmlns:a16="http://schemas.microsoft.com/office/drawing/2014/main" val="4064463169"/>
                  </a:ext>
                </a:extLst>
              </a:tr>
              <a:tr h="370840">
                <a:tc>
                  <a:txBody>
                    <a:bodyPr/>
                    <a:lstStyle/>
                    <a:p>
                      <a:r>
                        <a:rPr lang="en-US" dirty="0"/>
                        <a:t>Display predicted skin disease with confidence level.</a:t>
                      </a:r>
                      <a:endParaRPr lang="en-IN" dirty="0"/>
                    </a:p>
                  </a:txBody>
                  <a:tcPr/>
                </a:tc>
                <a:tc>
                  <a:txBody>
                    <a:bodyPr/>
                    <a:lstStyle/>
                    <a:p>
                      <a:r>
                        <a:rPr lang="en-IN" dirty="0"/>
                        <a:t>Scalable system for handling multiple users.</a:t>
                      </a:r>
                    </a:p>
                  </a:txBody>
                  <a:tcPr/>
                </a:tc>
                <a:extLst>
                  <a:ext uri="{0D108BD9-81ED-4DB2-BD59-A6C34878D82A}">
                    <a16:rowId xmlns:a16="http://schemas.microsoft.com/office/drawing/2014/main" val="1123497915"/>
                  </a:ext>
                </a:extLst>
              </a:tr>
              <a:tr h="370840">
                <a:tc>
                  <a:txBody>
                    <a:bodyPr/>
                    <a:lstStyle/>
                    <a:p>
                      <a:r>
                        <a:rPr lang="en-IN" dirty="0"/>
                        <a:t>Simple and user-friendly interface.</a:t>
                      </a:r>
                    </a:p>
                  </a:txBody>
                  <a:tcPr/>
                </a:tc>
                <a:tc>
                  <a:txBody>
                    <a:bodyPr/>
                    <a:lstStyle/>
                    <a:p>
                      <a:r>
                        <a:rPr lang="en-US" dirty="0"/>
                        <a:t>Easy accessibility for non-technical users.</a:t>
                      </a:r>
                      <a:endParaRPr lang="en-IN" dirty="0"/>
                    </a:p>
                  </a:txBody>
                  <a:tcPr/>
                </a:tc>
                <a:extLst>
                  <a:ext uri="{0D108BD9-81ED-4DB2-BD59-A6C34878D82A}">
                    <a16:rowId xmlns:a16="http://schemas.microsoft.com/office/drawing/2014/main" val="370966946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E34F1-3B51-F1D7-7A2B-A85C7AB13E3F}"/>
              </a:ext>
            </a:extLst>
          </p:cNvPr>
          <p:cNvSpPr>
            <a:spLocks noGrp="1"/>
          </p:cNvSpPr>
          <p:nvPr>
            <p:ph type="title"/>
          </p:nvPr>
        </p:nvSpPr>
        <p:spPr/>
        <p:txBody>
          <a:bodyPr/>
          <a:lstStyle/>
          <a:p>
            <a:r>
              <a:rPr lang="en-US" sz="2800" b="1" dirty="0"/>
              <a:t>Requirement Gathering &amp; Data Collection</a:t>
            </a:r>
            <a:endParaRPr lang="en-IN" sz="2800" dirty="0"/>
          </a:p>
        </p:txBody>
      </p:sp>
      <p:sp>
        <p:nvSpPr>
          <p:cNvPr id="3" name="Content Placeholder 2">
            <a:extLst>
              <a:ext uri="{FF2B5EF4-FFF2-40B4-BE49-F238E27FC236}">
                <a16:creationId xmlns:a16="http://schemas.microsoft.com/office/drawing/2014/main" id="{4B11FEED-42AB-2400-1641-7995C58150B7}"/>
              </a:ext>
            </a:extLst>
          </p:cNvPr>
          <p:cNvSpPr>
            <a:spLocks noGrp="1"/>
          </p:cNvSpPr>
          <p:nvPr>
            <p:ph idx="1"/>
          </p:nvPr>
        </p:nvSpPr>
        <p:spPr>
          <a:xfrm>
            <a:off x="0" y="838200"/>
            <a:ext cx="9144000" cy="5883275"/>
          </a:xfrm>
        </p:spPr>
        <p:txBody>
          <a:bodyPr/>
          <a:lstStyle/>
          <a:p>
            <a:pPr marL="0" indent="0">
              <a:buNone/>
            </a:pPr>
            <a:r>
              <a:rPr lang="en-US" sz="2400" b="1" dirty="0"/>
              <a:t>Challenges in Data Collection:</a:t>
            </a:r>
          </a:p>
          <a:p>
            <a:pPr marL="0" indent="0">
              <a:buNone/>
            </a:pPr>
            <a:r>
              <a:rPr lang="en-US" sz="2000" dirty="0"/>
              <a:t>• Limited availability of high-quality labeled dermatoscopic skin images</a:t>
            </a:r>
            <a:br>
              <a:rPr lang="en-US" sz="2000" dirty="0"/>
            </a:br>
            <a:r>
              <a:rPr lang="en-US" sz="2000" dirty="0"/>
              <a:t>• Class imbalance, where some disease categories contained fewer samples</a:t>
            </a:r>
            <a:br>
              <a:rPr lang="en-US" sz="2000" dirty="0"/>
            </a:br>
            <a:r>
              <a:rPr lang="en-US" sz="2000" dirty="0"/>
              <a:t>• Variations in image quality, lighting conditions, and skin tones</a:t>
            </a:r>
            <a:br>
              <a:rPr lang="en-US" sz="2000" dirty="0"/>
            </a:br>
            <a:r>
              <a:rPr lang="en-US" sz="2000" dirty="0"/>
              <a:t>• Requirement of preprocessing and dataset cleaning before training</a:t>
            </a:r>
            <a:br>
              <a:rPr lang="en-US" sz="2000" dirty="0"/>
            </a:br>
            <a:r>
              <a:rPr lang="en-US" sz="2000" dirty="0"/>
              <a:t>• Difficulty in obtaining medically verified data for accurate classification</a:t>
            </a:r>
          </a:p>
          <a:p>
            <a:pPr marL="0" indent="0">
              <a:buNone/>
            </a:pPr>
            <a:br>
              <a:rPr lang="en-US" sz="2000" dirty="0"/>
            </a:br>
            <a:endParaRPr lang="en-US" sz="2000" dirty="0"/>
          </a:p>
          <a:p>
            <a:pPr marL="0" indent="0">
              <a:buNone/>
            </a:pPr>
            <a:r>
              <a:rPr lang="en-US" sz="2400" b="1" dirty="0"/>
              <a:t>Current Status of Project:</a:t>
            </a:r>
          </a:p>
          <a:p>
            <a:pPr marL="0" indent="0">
              <a:buNone/>
            </a:pPr>
            <a:r>
              <a:rPr lang="en-US" sz="2000" dirty="0"/>
              <a:t>• Doctor login and registration system implemented</a:t>
            </a:r>
            <a:br>
              <a:rPr lang="en-US" sz="2000" dirty="0"/>
            </a:br>
            <a:r>
              <a:rPr lang="en-US" sz="2000" dirty="0"/>
              <a:t>• SQLite database integrated for user authentication</a:t>
            </a:r>
            <a:br>
              <a:rPr lang="en-US" sz="2000" dirty="0"/>
            </a:br>
            <a:r>
              <a:rPr lang="en-US" sz="2000" dirty="0"/>
              <a:t>• Skin image upload and preprocessing completed</a:t>
            </a:r>
            <a:br>
              <a:rPr lang="en-US" sz="2000" dirty="0"/>
            </a:br>
            <a:r>
              <a:rPr lang="en-US" sz="2000" dirty="0"/>
              <a:t>• CNN-based MobileNetV2 model trained and integrated with backend</a:t>
            </a:r>
            <a:br>
              <a:rPr lang="en-US" sz="2000" dirty="0"/>
            </a:br>
            <a:r>
              <a:rPr lang="en-US" sz="2000" dirty="0"/>
              <a:t>• System predicts top two skin diseases with confidence scores</a:t>
            </a:r>
            <a:br>
              <a:rPr lang="en-US" sz="2000" dirty="0"/>
            </a:br>
            <a:r>
              <a:rPr lang="en-US" sz="2000" dirty="0"/>
              <a:t>• Frontend and backend integration completed</a:t>
            </a:r>
          </a:p>
          <a:p>
            <a:pPr marL="0" indent="0">
              <a:buNone/>
            </a:pPr>
            <a:endParaRPr lang="en-IN" sz="2000" dirty="0"/>
          </a:p>
        </p:txBody>
      </p:sp>
      <p:sp>
        <p:nvSpPr>
          <p:cNvPr id="4" name="Date Placeholder 3">
            <a:extLst>
              <a:ext uri="{FF2B5EF4-FFF2-40B4-BE49-F238E27FC236}">
                <a16:creationId xmlns:a16="http://schemas.microsoft.com/office/drawing/2014/main" id="{7BE7F6C5-7BBB-7133-593D-22CD503A3678}"/>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A0D54B20-D8EE-2C10-D875-F213CE203E1B}"/>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7</a:t>
            </a:fld>
            <a:endParaRPr lang="en-IN" dirty="0"/>
          </a:p>
        </p:txBody>
      </p:sp>
    </p:spTree>
    <p:extLst>
      <p:ext uri="{BB962C8B-B14F-4D97-AF65-F5344CB8AC3E}">
        <p14:creationId xmlns:p14="http://schemas.microsoft.com/office/powerpoint/2010/main" val="3345178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Design Phase</a:t>
            </a:r>
            <a:endParaRPr lang="en-US" dirty="0"/>
          </a:p>
        </p:txBody>
      </p:sp>
      <p:sp>
        <p:nvSpPr>
          <p:cNvPr id="3" name="Content Placeholder 2"/>
          <p:cNvSpPr>
            <a:spLocks noGrp="1"/>
          </p:cNvSpPr>
          <p:nvPr>
            <p:ph idx="1"/>
          </p:nvPr>
        </p:nvSpPr>
        <p:spPr>
          <a:xfrm>
            <a:off x="0" y="838200"/>
            <a:ext cx="8686800" cy="5059363"/>
          </a:xfrm>
        </p:spPr>
        <p:txBody>
          <a:bodyPr/>
          <a:lstStyle/>
          <a:p>
            <a:pPr marL="0" indent="0">
              <a:buNone/>
            </a:pPr>
            <a:endParaRPr lang="en-US" sz="2000" b="1" dirty="0"/>
          </a:p>
          <a:p>
            <a:r>
              <a:rPr lang="en-US" sz="2400" b="1" dirty="0"/>
              <a:t>System Architecture:</a:t>
            </a:r>
            <a:br>
              <a:rPr lang="en-US" sz="2000" dirty="0"/>
            </a:br>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400" dirty="0"/>
          </a:p>
        </p:txBody>
      </p:sp>
      <p:sp>
        <p:nvSpPr>
          <p:cNvPr id="4" name="Date Placeholder 3">
            <a:extLst>
              <a:ext uri="{FF2B5EF4-FFF2-40B4-BE49-F238E27FC236}">
                <a16:creationId xmlns:a16="http://schemas.microsoft.com/office/drawing/2014/main" id="{8FEDA000-B4F6-53E8-16A6-1004F12E6EB1}"/>
              </a:ext>
            </a:extLst>
          </p:cNvPr>
          <p:cNvSpPr>
            <a:spLocks noGrp="1"/>
          </p:cNvSpPr>
          <p:nvPr>
            <p:ph type="dt" sz="half" idx="10"/>
          </p:nvPr>
        </p:nvSpPr>
        <p:spPr/>
        <p:txBody>
          <a:bodyPr/>
          <a:lstStyle/>
          <a:p>
            <a:fld id="{E11EBF37-5162-4590-A6C6-1B025586CEF4}" type="datetime1">
              <a:rPr lang="en-US" smtClean="0"/>
              <a:t>5/15/2026</a:t>
            </a:fld>
            <a:endParaRPr lang="en-US"/>
          </a:p>
        </p:txBody>
      </p:sp>
      <p:sp>
        <p:nvSpPr>
          <p:cNvPr id="6" name="Slide Number Placeholder 5">
            <a:extLst>
              <a:ext uri="{FF2B5EF4-FFF2-40B4-BE49-F238E27FC236}">
                <a16:creationId xmlns:a16="http://schemas.microsoft.com/office/drawing/2014/main" id="{7181FB65-6E2D-7F44-016E-E0B2ECC767C3}"/>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8</a:t>
            </a:fld>
            <a:endParaRPr lang="en-IN" dirty="0"/>
          </a:p>
        </p:txBody>
      </p:sp>
      <p:pic>
        <p:nvPicPr>
          <p:cNvPr id="10" name="Picture 9">
            <a:extLst>
              <a:ext uri="{FF2B5EF4-FFF2-40B4-BE49-F238E27FC236}">
                <a16:creationId xmlns:a16="http://schemas.microsoft.com/office/drawing/2014/main" id="{FF1CE252-5257-5E7F-287A-2DC6828CE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0"/>
            <a:ext cx="9144000" cy="4876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12134-B5E3-14D2-9E7C-3E4AACFBA103}"/>
              </a:ext>
            </a:extLst>
          </p:cNvPr>
          <p:cNvSpPr>
            <a:spLocks noGrp="1"/>
          </p:cNvSpPr>
          <p:nvPr>
            <p:ph type="title"/>
          </p:nvPr>
        </p:nvSpPr>
        <p:spPr/>
        <p:txBody>
          <a:bodyPr/>
          <a:lstStyle/>
          <a:p>
            <a:r>
              <a:rPr lang="en-US" sz="3200" b="1" dirty="0"/>
              <a:t>Design Phase</a:t>
            </a:r>
            <a:endParaRPr lang="en-US" dirty="0"/>
          </a:p>
        </p:txBody>
      </p:sp>
      <p:sp>
        <p:nvSpPr>
          <p:cNvPr id="3" name="Content Placeholder 2">
            <a:extLst>
              <a:ext uri="{FF2B5EF4-FFF2-40B4-BE49-F238E27FC236}">
                <a16:creationId xmlns:a16="http://schemas.microsoft.com/office/drawing/2014/main" id="{48B08FDB-C043-8F71-7140-64E861D2579C}"/>
              </a:ext>
            </a:extLst>
          </p:cNvPr>
          <p:cNvSpPr>
            <a:spLocks noGrp="1"/>
          </p:cNvSpPr>
          <p:nvPr>
            <p:ph idx="1"/>
          </p:nvPr>
        </p:nvSpPr>
        <p:spPr>
          <a:xfrm>
            <a:off x="0" y="911620"/>
            <a:ext cx="8686800" cy="5444730"/>
          </a:xfrm>
        </p:spPr>
        <p:txBody>
          <a:bodyPr/>
          <a:lstStyle/>
          <a:p>
            <a:pPr marL="0" indent="0">
              <a:buNone/>
            </a:pPr>
            <a:endParaRPr lang="en-US" sz="2000" dirty="0"/>
          </a:p>
          <a:p>
            <a:r>
              <a:rPr lang="en-US" sz="2400" b="1" dirty="0"/>
              <a:t>Flow chart:</a:t>
            </a:r>
          </a:p>
        </p:txBody>
      </p:sp>
      <p:sp>
        <p:nvSpPr>
          <p:cNvPr id="4" name="Date Placeholder 3">
            <a:extLst>
              <a:ext uri="{FF2B5EF4-FFF2-40B4-BE49-F238E27FC236}">
                <a16:creationId xmlns:a16="http://schemas.microsoft.com/office/drawing/2014/main" id="{75D662A9-C392-9C22-C53E-FBBAB7C2FAE7}"/>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D61CBB79-9E8E-2C82-0EF0-2F7C73866627}"/>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9</a:t>
            </a:fld>
            <a:endParaRPr lang="en-IN" dirty="0"/>
          </a:p>
        </p:txBody>
      </p:sp>
      <p:pic>
        <p:nvPicPr>
          <p:cNvPr id="7" name="Picture 6">
            <a:extLst>
              <a:ext uri="{FF2B5EF4-FFF2-40B4-BE49-F238E27FC236}">
                <a16:creationId xmlns:a16="http://schemas.microsoft.com/office/drawing/2014/main" id="{D44F46C4-BC8C-6ADC-7982-CB82FDB1B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911620"/>
            <a:ext cx="4572000" cy="5717780"/>
          </a:xfrm>
          <a:prstGeom prst="rect">
            <a:avLst/>
          </a:prstGeom>
        </p:spPr>
      </p:pic>
    </p:spTree>
    <p:extLst>
      <p:ext uri="{BB962C8B-B14F-4D97-AF65-F5344CB8AC3E}">
        <p14:creationId xmlns:p14="http://schemas.microsoft.com/office/powerpoint/2010/main" val="271446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Development Kickoff</a:t>
            </a:r>
            <a:endParaRPr lang="en-US" dirty="0"/>
          </a:p>
        </p:txBody>
      </p:sp>
      <p:sp>
        <p:nvSpPr>
          <p:cNvPr id="3" name="Content Placeholder 2"/>
          <p:cNvSpPr>
            <a:spLocks noGrp="1"/>
          </p:cNvSpPr>
          <p:nvPr>
            <p:ph idx="1"/>
          </p:nvPr>
        </p:nvSpPr>
        <p:spPr>
          <a:xfrm>
            <a:off x="422787" y="1166018"/>
            <a:ext cx="8229600" cy="4525963"/>
          </a:xfrm>
        </p:spPr>
        <p:txBody>
          <a:bodyPr/>
          <a:lstStyle/>
          <a:p>
            <a:r>
              <a:rPr lang="en-US" sz="2400" b="1" dirty="0"/>
              <a:t>Initial Codebase Setup</a:t>
            </a:r>
          </a:p>
          <a:p>
            <a:r>
              <a:rPr lang="en-US" sz="2000" dirty="0"/>
              <a:t>import </a:t>
            </a:r>
            <a:r>
              <a:rPr lang="en-US" sz="2000" dirty="0" err="1"/>
              <a:t>tensorflow</a:t>
            </a:r>
            <a:r>
              <a:rPr lang="en-US" sz="2000" dirty="0"/>
              <a:t> as </a:t>
            </a:r>
            <a:r>
              <a:rPr lang="en-US" sz="2000" dirty="0" err="1"/>
              <a:t>tf</a:t>
            </a:r>
            <a:endParaRPr lang="en-US" sz="2000" dirty="0"/>
          </a:p>
          <a:p>
            <a:r>
              <a:rPr lang="en-US" sz="2000" dirty="0"/>
              <a:t>from </a:t>
            </a:r>
            <a:r>
              <a:rPr lang="en-US" sz="2000" dirty="0" err="1"/>
              <a:t>tensorflow.keras.preprocessing.image</a:t>
            </a:r>
            <a:r>
              <a:rPr lang="en-US" sz="2000" dirty="0"/>
              <a:t> import </a:t>
            </a:r>
            <a:r>
              <a:rPr lang="en-US" sz="2000" dirty="0" err="1"/>
              <a:t>ImageDataGenerator</a:t>
            </a:r>
            <a:endParaRPr lang="en-US" sz="2000" dirty="0"/>
          </a:p>
          <a:p>
            <a:r>
              <a:rPr lang="en-US" sz="2000" dirty="0"/>
              <a:t>from </a:t>
            </a:r>
            <a:r>
              <a:rPr lang="en-US" sz="2000" dirty="0" err="1"/>
              <a:t>tensorflow.keras.applications</a:t>
            </a:r>
            <a:r>
              <a:rPr lang="en-US" sz="2000" dirty="0"/>
              <a:t> import MobileNetV2</a:t>
            </a:r>
          </a:p>
          <a:p>
            <a:r>
              <a:rPr lang="en-US" sz="2000" dirty="0"/>
              <a:t>from </a:t>
            </a:r>
            <a:r>
              <a:rPr lang="en-US" sz="2000" dirty="0" err="1"/>
              <a:t>tensorflow.keras.layers</a:t>
            </a:r>
            <a:r>
              <a:rPr lang="en-US" sz="2000" dirty="0"/>
              <a:t> import Dense, GlobalAveragePooling2D, Dropout</a:t>
            </a:r>
          </a:p>
          <a:p>
            <a:r>
              <a:rPr lang="en-US" sz="2000" dirty="0"/>
              <a:t>from </a:t>
            </a:r>
            <a:r>
              <a:rPr lang="en-US" sz="2000" dirty="0" err="1"/>
              <a:t>tensorflow.keras.models</a:t>
            </a:r>
            <a:r>
              <a:rPr lang="en-US" sz="2000" dirty="0"/>
              <a:t> import Model</a:t>
            </a:r>
          </a:p>
          <a:p>
            <a:r>
              <a:rPr lang="en-US" sz="2000" dirty="0"/>
              <a:t>from </a:t>
            </a:r>
            <a:r>
              <a:rPr lang="en-US" sz="2000" dirty="0" err="1"/>
              <a:t>tensorflow.keras.callbacks</a:t>
            </a:r>
            <a:r>
              <a:rPr lang="en-US" sz="2000" dirty="0"/>
              <a:t> import </a:t>
            </a:r>
            <a:r>
              <a:rPr lang="en-US" sz="2000" dirty="0" err="1"/>
              <a:t>EarlyStopping</a:t>
            </a:r>
            <a:r>
              <a:rPr lang="en-US" sz="2000" dirty="0"/>
              <a:t>, </a:t>
            </a:r>
            <a:r>
              <a:rPr lang="en-US" sz="2000" dirty="0" err="1"/>
              <a:t>ReduceLROnPlateau</a:t>
            </a:r>
            <a:r>
              <a:rPr lang="en-US" sz="2000" dirty="0"/>
              <a:t>, </a:t>
            </a:r>
            <a:r>
              <a:rPr lang="en-US" sz="2000" dirty="0" err="1"/>
              <a:t>ModelCheckpoint</a:t>
            </a:r>
            <a:endParaRPr lang="en-US" sz="2000" dirty="0"/>
          </a:p>
          <a:p>
            <a:endParaRPr lang="en-US" sz="2400" b="1" dirty="0"/>
          </a:p>
        </p:txBody>
      </p:sp>
      <p:sp>
        <p:nvSpPr>
          <p:cNvPr id="4" name="Date Placeholder 3">
            <a:extLst>
              <a:ext uri="{FF2B5EF4-FFF2-40B4-BE49-F238E27FC236}">
                <a16:creationId xmlns:a16="http://schemas.microsoft.com/office/drawing/2014/main" id="{15A3FBA6-F7BA-0B65-2925-C6BC22FAE2DF}"/>
              </a:ext>
            </a:extLst>
          </p:cNvPr>
          <p:cNvSpPr>
            <a:spLocks noGrp="1"/>
          </p:cNvSpPr>
          <p:nvPr>
            <p:ph type="dt" sz="half" idx="10"/>
          </p:nvPr>
        </p:nvSpPr>
        <p:spPr/>
        <p:txBody>
          <a:bodyPr/>
          <a:lstStyle/>
          <a:p>
            <a:fld id="{415AF32E-26B8-4D17-8C5F-913E0655C6AA}" type="datetime1">
              <a:rPr lang="en-US" smtClean="0"/>
              <a:t>5/15/2026</a:t>
            </a:fld>
            <a:endParaRPr lang="en-US"/>
          </a:p>
        </p:txBody>
      </p:sp>
      <p:sp>
        <p:nvSpPr>
          <p:cNvPr id="6" name="Slide Number Placeholder 5">
            <a:extLst>
              <a:ext uri="{FF2B5EF4-FFF2-40B4-BE49-F238E27FC236}">
                <a16:creationId xmlns:a16="http://schemas.microsoft.com/office/drawing/2014/main" id="{535A3357-D920-E3E3-AD11-FC290F99791C}"/>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10</a:t>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B280-EA31-CD7F-D5EB-A2127717DB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291A50-CE08-160A-93D7-9A39955DD851}"/>
              </a:ext>
            </a:extLst>
          </p:cNvPr>
          <p:cNvSpPr>
            <a:spLocks noGrp="1"/>
          </p:cNvSpPr>
          <p:nvPr>
            <p:ph idx="1"/>
          </p:nvPr>
        </p:nvSpPr>
        <p:spPr/>
        <p:txBody>
          <a:bodyPr/>
          <a:lstStyle/>
          <a:p>
            <a:r>
              <a:rPr lang="en-US" sz="1800" dirty="0"/>
              <a:t># HAM10000 CLASS → DISEASE NAME MAPPING# =========================================CLASS_NAMES = {    </a:t>
            </a:r>
          </a:p>
          <a:p>
            <a:r>
              <a:rPr lang="en-US" sz="1800" dirty="0"/>
              <a:t>  0: "Actinic Keratoses (</a:t>
            </a:r>
            <a:r>
              <a:rPr lang="en-US" sz="1800" dirty="0" err="1"/>
              <a:t>akiec</a:t>
            </a:r>
            <a:r>
              <a:rPr lang="en-US" sz="1800" dirty="0"/>
              <a:t>)", </a:t>
            </a:r>
          </a:p>
          <a:p>
            <a:r>
              <a:rPr lang="en-US" sz="1800" dirty="0"/>
              <a:t>  1: "Basal Cell Carcinoma (bcc)",  </a:t>
            </a:r>
          </a:p>
          <a:p>
            <a:r>
              <a:rPr lang="en-US" sz="1800" dirty="0"/>
              <a:t>  2: "Benign Keratosis-like Lesions (</a:t>
            </a:r>
            <a:r>
              <a:rPr lang="en-US" sz="1800" dirty="0" err="1"/>
              <a:t>bkl</a:t>
            </a:r>
            <a:r>
              <a:rPr lang="en-US" sz="1800" dirty="0"/>
              <a:t>)",  </a:t>
            </a:r>
          </a:p>
          <a:p>
            <a:r>
              <a:rPr lang="en-US" sz="1800" dirty="0"/>
              <a:t>  3: "Dermatofibroma (</a:t>
            </a:r>
            <a:r>
              <a:rPr lang="en-US" sz="1800" dirty="0" err="1"/>
              <a:t>df</a:t>
            </a:r>
            <a:r>
              <a:rPr lang="en-US" sz="1800" dirty="0"/>
              <a:t>)",</a:t>
            </a:r>
          </a:p>
          <a:p>
            <a:r>
              <a:rPr lang="en-US" sz="1800" dirty="0"/>
              <a:t>  4: "Melanocytic Nevi (</a:t>
            </a:r>
            <a:r>
              <a:rPr lang="en-US" sz="1800" dirty="0" err="1"/>
              <a:t>nv</a:t>
            </a:r>
            <a:r>
              <a:rPr lang="en-US" sz="1800" dirty="0"/>
              <a:t>)",  </a:t>
            </a:r>
          </a:p>
          <a:p>
            <a:r>
              <a:rPr lang="en-US" sz="1800" dirty="0"/>
              <a:t>  5: "Vascular Lesions (</a:t>
            </a:r>
            <a:r>
              <a:rPr lang="en-US" sz="1800" dirty="0" err="1"/>
              <a:t>vasc</a:t>
            </a:r>
            <a:r>
              <a:rPr lang="en-US" sz="1800" dirty="0"/>
              <a:t>)",    </a:t>
            </a:r>
          </a:p>
          <a:p>
            <a:r>
              <a:rPr lang="en-US" sz="1800" dirty="0"/>
              <a:t>  6: "Melanoma (mel)“</a:t>
            </a:r>
          </a:p>
          <a:p>
            <a:r>
              <a:rPr lang="en-US" sz="1800" dirty="0"/>
              <a:t>}</a:t>
            </a:r>
          </a:p>
        </p:txBody>
      </p:sp>
      <p:sp>
        <p:nvSpPr>
          <p:cNvPr id="4" name="Date Placeholder 3">
            <a:extLst>
              <a:ext uri="{FF2B5EF4-FFF2-40B4-BE49-F238E27FC236}">
                <a16:creationId xmlns:a16="http://schemas.microsoft.com/office/drawing/2014/main" id="{9A148CBB-4B81-BD90-FF86-120A3DEE9C22}"/>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5EFE6CF9-2160-5A7D-830C-236A244EFBC9}"/>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11</a:t>
            </a:fld>
            <a:endParaRPr lang="en-IN" dirty="0"/>
          </a:p>
        </p:txBody>
      </p:sp>
    </p:spTree>
    <p:extLst>
      <p:ext uri="{BB962C8B-B14F-4D97-AF65-F5344CB8AC3E}">
        <p14:creationId xmlns:p14="http://schemas.microsoft.com/office/powerpoint/2010/main" val="3337720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 SDG Goals Mapping</a:t>
            </a:r>
            <a:endParaRPr lang="en-US" dirty="0"/>
          </a:p>
        </p:txBody>
      </p:sp>
      <p:sp>
        <p:nvSpPr>
          <p:cNvPr id="3" name="Content Placeholder 2"/>
          <p:cNvSpPr>
            <a:spLocks noGrp="1"/>
          </p:cNvSpPr>
          <p:nvPr>
            <p:ph idx="1"/>
          </p:nvPr>
        </p:nvSpPr>
        <p:spPr>
          <a:xfrm>
            <a:off x="0" y="838200"/>
            <a:ext cx="9144000" cy="5883275"/>
          </a:xfrm>
        </p:spPr>
        <p:txBody>
          <a:bodyPr/>
          <a:lstStyle/>
          <a:p>
            <a:pPr marL="0" indent="0">
              <a:buNone/>
            </a:pPr>
            <a:r>
              <a:rPr lang="en-IN" sz="2400" b="1" dirty="0"/>
              <a:t>     </a:t>
            </a:r>
            <a:r>
              <a:rPr lang="en-US" sz="2000" b="1" dirty="0"/>
              <a:t>SDG 3 – Good Health and Well-Being</a:t>
            </a:r>
            <a:endParaRPr lang="en-US" sz="2000" dirty="0"/>
          </a:p>
          <a:p>
            <a:r>
              <a:rPr lang="en-US" sz="2000" dirty="0"/>
              <a:t>The project helps in early detection of skin diseases using AI.</a:t>
            </a:r>
          </a:p>
          <a:p>
            <a:r>
              <a:rPr lang="en-US" sz="2000" dirty="0"/>
              <a:t>Supports better healthcare access and promotes early medical consultation.</a:t>
            </a:r>
          </a:p>
          <a:p>
            <a:endParaRPr lang="en-US" sz="2000" dirty="0"/>
          </a:p>
          <a:p>
            <a:pPr marL="0" indent="0">
              <a:buNone/>
            </a:pPr>
            <a:r>
              <a:rPr lang="en-US" sz="2000" b="1" dirty="0"/>
              <a:t>      SDG 9 – Industry, Innovation and Infrastructure</a:t>
            </a:r>
            <a:endParaRPr lang="en-US" sz="2000" dirty="0"/>
          </a:p>
          <a:p>
            <a:r>
              <a:rPr lang="en-US" sz="2000" dirty="0"/>
              <a:t>Uses Artificial Intelligence and Machine Learning technology to build an innovative healthcare solution.</a:t>
            </a:r>
          </a:p>
          <a:p>
            <a:endParaRPr lang="en-US" sz="2000" dirty="0"/>
          </a:p>
          <a:p>
            <a:pPr marL="0" indent="0">
              <a:buNone/>
            </a:pPr>
            <a:r>
              <a:rPr lang="en-US" sz="2000" b="1" dirty="0"/>
              <a:t>      SDG 10 – Reduced Inequalities</a:t>
            </a:r>
            <a:endParaRPr lang="en-US" sz="2000" dirty="0"/>
          </a:p>
          <a:p>
            <a:r>
              <a:rPr lang="en-US" sz="2000" dirty="0"/>
              <a:t>Provides </a:t>
            </a:r>
            <a:r>
              <a:rPr lang="en-US" sz="2000" b="1" dirty="0"/>
              <a:t>low-cost and accessible diagnosis support</a:t>
            </a:r>
            <a:r>
              <a:rPr lang="en-US" sz="2000" dirty="0"/>
              <a:t> for people in rural or resource-limited areas where dermatologists may not be available.</a:t>
            </a:r>
          </a:p>
          <a:p>
            <a:endParaRPr lang="en-US" sz="2400" b="1" dirty="0"/>
          </a:p>
          <a:p>
            <a:endParaRPr lang="en-US" sz="2400" dirty="0"/>
          </a:p>
        </p:txBody>
      </p:sp>
      <p:sp>
        <p:nvSpPr>
          <p:cNvPr id="4" name="Date Placeholder 3">
            <a:extLst>
              <a:ext uri="{FF2B5EF4-FFF2-40B4-BE49-F238E27FC236}">
                <a16:creationId xmlns:a16="http://schemas.microsoft.com/office/drawing/2014/main" id="{4FB79F6C-F41C-38B3-4E58-91612F5F83B9}"/>
              </a:ext>
            </a:extLst>
          </p:cNvPr>
          <p:cNvSpPr>
            <a:spLocks noGrp="1"/>
          </p:cNvSpPr>
          <p:nvPr>
            <p:ph type="dt" sz="half" idx="10"/>
          </p:nvPr>
        </p:nvSpPr>
        <p:spPr/>
        <p:txBody>
          <a:bodyPr/>
          <a:lstStyle/>
          <a:p>
            <a:fld id="{F0F426D5-E499-41EF-B3A4-86735D515090}" type="datetime1">
              <a:rPr lang="en-US" smtClean="0"/>
              <a:t>5/15/2026</a:t>
            </a:fld>
            <a:endParaRPr lang="en-US"/>
          </a:p>
        </p:txBody>
      </p:sp>
      <p:sp>
        <p:nvSpPr>
          <p:cNvPr id="6" name="Slide Number Placeholder 5">
            <a:extLst>
              <a:ext uri="{FF2B5EF4-FFF2-40B4-BE49-F238E27FC236}">
                <a16:creationId xmlns:a16="http://schemas.microsoft.com/office/drawing/2014/main" id="{B6FAEFA7-EA41-D787-AB76-AC3BBA7F97DC}"/>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12</a:t>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Multidisciplinary Approach</a:t>
            </a:r>
            <a:endParaRPr lang="en-US" dirty="0"/>
          </a:p>
        </p:txBody>
      </p:sp>
      <p:sp>
        <p:nvSpPr>
          <p:cNvPr id="3" name="Content Placeholder 2"/>
          <p:cNvSpPr>
            <a:spLocks noGrp="1"/>
          </p:cNvSpPr>
          <p:nvPr>
            <p:ph idx="1"/>
          </p:nvPr>
        </p:nvSpPr>
        <p:spPr>
          <a:xfrm>
            <a:off x="0" y="838200"/>
            <a:ext cx="9144000" cy="5883275"/>
          </a:xfrm>
        </p:spPr>
        <p:txBody>
          <a:bodyPr/>
          <a:lstStyle/>
          <a:p>
            <a:pPr marL="0" indent="0">
              <a:buNone/>
            </a:pPr>
            <a:r>
              <a:rPr lang="en-US" sz="2400" b="1" dirty="0"/>
              <a:t>Fields Involved:</a:t>
            </a:r>
          </a:p>
          <a:p>
            <a:pPr marL="0" indent="0">
              <a:buNone/>
            </a:pPr>
            <a:r>
              <a:rPr lang="en-US" sz="2000" b="1" dirty="0"/>
              <a:t>• Artificial Intelligence:</a:t>
            </a:r>
          </a:p>
          <a:p>
            <a:pPr marL="0" indent="0">
              <a:buNone/>
            </a:pPr>
            <a:r>
              <a:rPr lang="en-US" sz="2000" dirty="0"/>
              <a:t>Used to train deep learning models for skin disease detection and classification.</a:t>
            </a:r>
          </a:p>
          <a:p>
            <a:pPr marL="0" indent="0">
              <a:buNone/>
            </a:pPr>
            <a:r>
              <a:rPr lang="en-US" sz="2000" b="1" dirty="0"/>
              <a:t>• Data Science:</a:t>
            </a:r>
          </a:p>
          <a:p>
            <a:pPr marL="0" indent="0">
              <a:buNone/>
            </a:pPr>
            <a:r>
              <a:rPr lang="en-US" sz="2000" dirty="0"/>
              <a:t>Applied in data collection, preprocessing, dataset balancing, and model evaluation.</a:t>
            </a:r>
          </a:p>
          <a:p>
            <a:pPr marL="0" indent="0">
              <a:buNone/>
            </a:pPr>
            <a:r>
              <a:rPr lang="en-US" sz="2000" b="1" dirty="0"/>
              <a:t>• Computer Engineering:</a:t>
            </a:r>
          </a:p>
          <a:p>
            <a:pPr marL="0" indent="0">
              <a:buNone/>
            </a:pPr>
            <a:r>
              <a:rPr lang="en-US" sz="2000" dirty="0"/>
              <a:t>Used for system development, backend integration, database management, and UI design.</a:t>
            </a:r>
          </a:p>
          <a:p>
            <a:pPr marL="0" indent="0">
              <a:buNone/>
            </a:pPr>
            <a:r>
              <a:rPr lang="en-US" sz="2000" b="1" dirty="0"/>
              <a:t>• Medical Science:</a:t>
            </a:r>
          </a:p>
          <a:p>
            <a:pPr marL="0" indent="0">
              <a:buNone/>
            </a:pPr>
            <a:r>
              <a:rPr lang="en-US" sz="2000" dirty="0"/>
              <a:t>Provides knowledge of skin diseases, symptoms, and diagnostic criteria.</a:t>
            </a:r>
          </a:p>
          <a:p>
            <a:pPr marL="0" indent="0">
              <a:buNone/>
            </a:pPr>
            <a:r>
              <a:rPr lang="en-US" sz="2000" b="1" dirty="0"/>
              <a:t>• Healthcare Support:</a:t>
            </a:r>
          </a:p>
          <a:p>
            <a:pPr marL="0" indent="0">
              <a:buNone/>
            </a:pPr>
            <a:r>
              <a:rPr lang="en-US" sz="2000" dirty="0"/>
              <a:t>Helps in understanding medical usability and practical application of the system.</a:t>
            </a:r>
          </a:p>
          <a:p>
            <a:pPr marL="0" indent="0">
              <a:buNone/>
            </a:pPr>
            <a:endParaRPr lang="en-US" sz="2000" dirty="0"/>
          </a:p>
        </p:txBody>
      </p:sp>
      <p:sp>
        <p:nvSpPr>
          <p:cNvPr id="4" name="Date Placeholder 3">
            <a:extLst>
              <a:ext uri="{FF2B5EF4-FFF2-40B4-BE49-F238E27FC236}">
                <a16:creationId xmlns:a16="http://schemas.microsoft.com/office/drawing/2014/main" id="{5F71C32D-B020-CF5A-CCC3-4DAE73E429BD}"/>
              </a:ext>
            </a:extLst>
          </p:cNvPr>
          <p:cNvSpPr>
            <a:spLocks noGrp="1"/>
          </p:cNvSpPr>
          <p:nvPr>
            <p:ph type="dt" sz="half" idx="10"/>
          </p:nvPr>
        </p:nvSpPr>
        <p:spPr/>
        <p:txBody>
          <a:bodyPr/>
          <a:lstStyle/>
          <a:p>
            <a:fld id="{15793343-DF52-465F-B380-EEB96FB7F3E6}" type="datetime1">
              <a:rPr lang="en-US" smtClean="0"/>
              <a:t>5/15/2026</a:t>
            </a:fld>
            <a:endParaRPr lang="en-US"/>
          </a:p>
        </p:txBody>
      </p:sp>
      <p:sp>
        <p:nvSpPr>
          <p:cNvPr id="6" name="Slide Number Placeholder 5">
            <a:extLst>
              <a:ext uri="{FF2B5EF4-FFF2-40B4-BE49-F238E27FC236}">
                <a16:creationId xmlns:a16="http://schemas.microsoft.com/office/drawing/2014/main" id="{F5C434F2-FD53-A7DC-24D9-41DE03AD4DB9}"/>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13</a:t>
            </a:fld>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13440-6ACF-FD3A-CEE1-8173F4678EE6}"/>
              </a:ext>
            </a:extLst>
          </p:cNvPr>
          <p:cNvSpPr>
            <a:spLocks noGrp="1"/>
          </p:cNvSpPr>
          <p:nvPr>
            <p:ph type="title"/>
          </p:nvPr>
        </p:nvSpPr>
        <p:spPr/>
        <p:txBody>
          <a:bodyPr/>
          <a:lstStyle/>
          <a:p>
            <a:r>
              <a:rPr lang="en-US" sz="2800" b="1" dirty="0"/>
              <a:t>Multidisciplinary Approach</a:t>
            </a:r>
            <a:endParaRPr lang="en-IN" dirty="0"/>
          </a:p>
        </p:txBody>
      </p:sp>
      <p:sp>
        <p:nvSpPr>
          <p:cNvPr id="3" name="Content Placeholder 2">
            <a:extLst>
              <a:ext uri="{FF2B5EF4-FFF2-40B4-BE49-F238E27FC236}">
                <a16:creationId xmlns:a16="http://schemas.microsoft.com/office/drawing/2014/main" id="{429EB645-CB75-C421-FDDB-0684675F5FF7}"/>
              </a:ext>
            </a:extLst>
          </p:cNvPr>
          <p:cNvSpPr>
            <a:spLocks noGrp="1"/>
          </p:cNvSpPr>
          <p:nvPr>
            <p:ph idx="1"/>
          </p:nvPr>
        </p:nvSpPr>
        <p:spPr>
          <a:xfrm>
            <a:off x="0" y="838200"/>
            <a:ext cx="9144000" cy="5883275"/>
          </a:xfrm>
        </p:spPr>
        <p:txBody>
          <a:bodyPr/>
          <a:lstStyle/>
          <a:p>
            <a:r>
              <a:rPr lang="en-US" sz="2400" b="1" dirty="0"/>
              <a:t>Team Collaboration:</a:t>
            </a:r>
          </a:p>
          <a:p>
            <a:pPr marL="0" indent="0">
              <a:buNone/>
            </a:pPr>
            <a:r>
              <a:rPr lang="en-US" sz="2000" dirty="0"/>
              <a:t>• Developers build the AI model, backend, and web application</a:t>
            </a:r>
            <a:br>
              <a:rPr lang="en-US" sz="2000" dirty="0"/>
            </a:br>
            <a:r>
              <a:rPr lang="en-US" sz="2000" dirty="0"/>
              <a:t>• Medical experts provide knowledge about skin diseases and diagnostic criteria</a:t>
            </a:r>
            <a:br>
              <a:rPr lang="en-US" sz="2000" dirty="0"/>
            </a:br>
            <a:r>
              <a:rPr lang="en-US" sz="2000" dirty="0"/>
              <a:t>• Researchers and data scientists manage datasets and improve model accuracy</a:t>
            </a:r>
            <a:br>
              <a:rPr lang="en-US" sz="2000" dirty="0"/>
            </a:br>
            <a:r>
              <a:rPr lang="en-US" sz="2000" dirty="0"/>
              <a:t>• Team members collaborate to ensure technical accuracy and medical usability</a:t>
            </a:r>
          </a:p>
          <a:p>
            <a:pPr marL="0" indent="0">
              <a:buNone/>
            </a:pPr>
            <a:br>
              <a:rPr lang="en-US" sz="2000" dirty="0"/>
            </a:br>
            <a:endParaRPr lang="en-US" sz="2000" dirty="0"/>
          </a:p>
          <a:p>
            <a:r>
              <a:rPr lang="en-US" sz="2400" b="1" dirty="0"/>
              <a:t>Interdisciplinary Innovation:</a:t>
            </a:r>
          </a:p>
          <a:p>
            <a:pPr marL="0" indent="0">
              <a:buNone/>
            </a:pPr>
            <a:r>
              <a:rPr lang="en-US" sz="2000" dirty="0"/>
              <a:t>• Combines AI technology and healthcare for early skin disease detection</a:t>
            </a:r>
            <a:br>
              <a:rPr lang="en-US" sz="2000" dirty="0"/>
            </a:br>
            <a:r>
              <a:rPr lang="en-US" sz="2000" dirty="0"/>
              <a:t>• Uses deep learning-based image analysis for faster diagnosis support</a:t>
            </a:r>
            <a:br>
              <a:rPr lang="en-US" sz="2000" dirty="0"/>
            </a:br>
            <a:r>
              <a:rPr lang="en-US" sz="2000" dirty="0"/>
              <a:t>• Encourages collaboration between engineering, medical, and data science fields</a:t>
            </a:r>
            <a:br>
              <a:rPr lang="en-US" sz="2000" dirty="0"/>
            </a:br>
            <a:r>
              <a:rPr lang="en-US" sz="2000" dirty="0"/>
              <a:t>• Provides an innovative and accessible healthcare support solution</a:t>
            </a:r>
          </a:p>
        </p:txBody>
      </p:sp>
      <p:sp>
        <p:nvSpPr>
          <p:cNvPr id="4" name="Date Placeholder 3">
            <a:extLst>
              <a:ext uri="{FF2B5EF4-FFF2-40B4-BE49-F238E27FC236}">
                <a16:creationId xmlns:a16="http://schemas.microsoft.com/office/drawing/2014/main" id="{8AB09EA0-E207-15E1-4737-5BBA4D562633}"/>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C825E350-49E5-0959-D7EC-5B85FE3C569F}"/>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14</a:t>
            </a:fld>
            <a:endParaRPr lang="en-IN" dirty="0"/>
          </a:p>
        </p:txBody>
      </p:sp>
    </p:spTree>
    <p:extLst>
      <p:ext uri="{BB962C8B-B14F-4D97-AF65-F5344CB8AC3E}">
        <p14:creationId xmlns:p14="http://schemas.microsoft.com/office/powerpoint/2010/main" val="2721340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 Novelty Factor</a:t>
            </a:r>
            <a:endParaRPr lang="en-US" dirty="0"/>
          </a:p>
        </p:txBody>
      </p:sp>
      <p:sp>
        <p:nvSpPr>
          <p:cNvPr id="3" name="Content Placeholder 2"/>
          <p:cNvSpPr>
            <a:spLocks noGrp="1"/>
          </p:cNvSpPr>
          <p:nvPr>
            <p:ph idx="1"/>
          </p:nvPr>
        </p:nvSpPr>
        <p:spPr>
          <a:xfrm>
            <a:off x="0" y="892629"/>
            <a:ext cx="9144000" cy="5883274"/>
          </a:xfrm>
        </p:spPr>
        <p:txBody>
          <a:bodyPr/>
          <a:lstStyle/>
          <a:p>
            <a:r>
              <a:rPr lang="en-US" sz="2000" b="1" dirty="0"/>
              <a:t>What Makes This Project Unique?</a:t>
            </a:r>
          </a:p>
          <a:p>
            <a:r>
              <a:rPr lang="en-US" sz="2000" dirty="0"/>
              <a:t>• Uses CNN-based Artificial Intelligence and image processing for automatic skin        disease detection</a:t>
            </a:r>
            <a:br>
              <a:rPr lang="en-US" sz="2000" dirty="0"/>
            </a:br>
            <a:r>
              <a:rPr lang="en-US" sz="2000" dirty="0"/>
              <a:t>• Provides a fast and low-cost preliminary diagnosis support system</a:t>
            </a:r>
            <a:br>
              <a:rPr lang="en-US" sz="2000" dirty="0"/>
            </a:br>
            <a:r>
              <a:rPr lang="en-US" sz="2000" dirty="0"/>
              <a:t>• Offers a simple and user-friendly interface for image upload and instant prediction</a:t>
            </a:r>
            <a:br>
              <a:rPr lang="en-US" sz="2000" dirty="0"/>
            </a:br>
            <a:r>
              <a:rPr lang="en-US" sz="2000" dirty="0"/>
              <a:t>• Focuses on early detection and awareness of skin diseases</a:t>
            </a:r>
            <a:br>
              <a:rPr lang="en-US" sz="2000" dirty="0"/>
            </a:br>
            <a:r>
              <a:rPr lang="en-US" sz="2000" dirty="0"/>
              <a:t>• Integrates secure authentication, deep learning, and web technologies into a single healthcare solution</a:t>
            </a:r>
          </a:p>
          <a:p>
            <a:r>
              <a:rPr lang="en-US" sz="2000" b="1" dirty="0"/>
              <a:t>Comparison with Existing Solutions</a:t>
            </a:r>
            <a:endParaRPr lang="en-US" sz="2000" dirty="0"/>
          </a:p>
          <a:p>
            <a:pPr marL="0" indent="0">
              <a:buNone/>
            </a:pPr>
            <a:r>
              <a:rPr lang="en-US" sz="2000" dirty="0"/>
              <a:t>.</a:t>
            </a:r>
          </a:p>
        </p:txBody>
      </p:sp>
      <p:sp>
        <p:nvSpPr>
          <p:cNvPr id="4" name="Date Placeholder 3">
            <a:extLst>
              <a:ext uri="{FF2B5EF4-FFF2-40B4-BE49-F238E27FC236}">
                <a16:creationId xmlns:a16="http://schemas.microsoft.com/office/drawing/2014/main" id="{76C02BCB-8685-3C1D-E51E-1F714C1C1AF4}"/>
              </a:ext>
            </a:extLst>
          </p:cNvPr>
          <p:cNvSpPr>
            <a:spLocks noGrp="1"/>
          </p:cNvSpPr>
          <p:nvPr>
            <p:ph type="dt" sz="half" idx="10"/>
          </p:nvPr>
        </p:nvSpPr>
        <p:spPr/>
        <p:txBody>
          <a:bodyPr/>
          <a:lstStyle/>
          <a:p>
            <a:fld id="{AA215528-F109-41E6-A9AC-EEB9FA79A25C}" type="datetime1">
              <a:rPr lang="en-US" smtClean="0"/>
              <a:t>5/15/2026</a:t>
            </a:fld>
            <a:endParaRPr lang="en-US"/>
          </a:p>
        </p:txBody>
      </p:sp>
      <p:sp>
        <p:nvSpPr>
          <p:cNvPr id="6" name="Slide Number Placeholder 5">
            <a:extLst>
              <a:ext uri="{FF2B5EF4-FFF2-40B4-BE49-F238E27FC236}">
                <a16:creationId xmlns:a16="http://schemas.microsoft.com/office/drawing/2014/main" id="{C5DB1C85-D15E-A6CD-171C-117EB95821DD}"/>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15</a:t>
            </a:fld>
            <a:endParaRPr lang="en-IN" dirty="0"/>
          </a:p>
        </p:txBody>
      </p:sp>
      <p:graphicFrame>
        <p:nvGraphicFramePr>
          <p:cNvPr id="7" name="Table 6">
            <a:extLst>
              <a:ext uri="{FF2B5EF4-FFF2-40B4-BE49-F238E27FC236}">
                <a16:creationId xmlns:a16="http://schemas.microsoft.com/office/drawing/2014/main" id="{20AE8167-3BCA-7CDC-EEE2-45F4B1A922DE}"/>
              </a:ext>
            </a:extLst>
          </p:cNvPr>
          <p:cNvGraphicFramePr>
            <a:graphicFrameLocks noGrp="1"/>
          </p:cNvGraphicFramePr>
          <p:nvPr>
            <p:extLst>
              <p:ext uri="{D42A27DB-BD31-4B8C-83A1-F6EECF244321}">
                <p14:modId xmlns:p14="http://schemas.microsoft.com/office/powerpoint/2010/main" val="3504223808"/>
              </p:ext>
            </p:extLst>
          </p:nvPr>
        </p:nvGraphicFramePr>
        <p:xfrm>
          <a:off x="152400" y="4148908"/>
          <a:ext cx="8839200" cy="1849120"/>
        </p:xfrm>
        <a:graphic>
          <a:graphicData uri="http://schemas.openxmlformats.org/drawingml/2006/table">
            <a:tbl>
              <a:tblPr firstRow="1" bandRow="1">
                <a:tableStyleId>{21E4AEA4-8DFA-4A89-87EB-49C32662AFE0}</a:tableStyleId>
              </a:tblPr>
              <a:tblGrid>
                <a:gridCol w="4419600">
                  <a:extLst>
                    <a:ext uri="{9D8B030D-6E8A-4147-A177-3AD203B41FA5}">
                      <a16:colId xmlns:a16="http://schemas.microsoft.com/office/drawing/2014/main" val="75532574"/>
                    </a:ext>
                  </a:extLst>
                </a:gridCol>
                <a:gridCol w="4419600">
                  <a:extLst>
                    <a:ext uri="{9D8B030D-6E8A-4147-A177-3AD203B41FA5}">
                      <a16:colId xmlns:a16="http://schemas.microsoft.com/office/drawing/2014/main" val="2498097445"/>
                    </a:ext>
                  </a:extLst>
                </a:gridCol>
              </a:tblGrid>
              <a:tr h="370840">
                <a:tc>
                  <a:txBody>
                    <a:bodyPr/>
                    <a:lstStyle/>
                    <a:p>
                      <a:pPr algn="ctr">
                        <a:buNone/>
                      </a:pPr>
                      <a:r>
                        <a:rPr lang="en-IN" dirty="0"/>
                        <a:t>Existing Solutions</a:t>
                      </a:r>
                    </a:p>
                  </a:txBody>
                  <a:tcPr anchor="ctr"/>
                </a:tc>
                <a:tc>
                  <a:txBody>
                    <a:bodyPr/>
                    <a:lstStyle/>
                    <a:p>
                      <a:pPr algn="ctr"/>
                      <a:r>
                        <a:rPr lang="en-IN" dirty="0"/>
                        <a:t>Proposed Project</a:t>
                      </a:r>
                    </a:p>
                  </a:txBody>
                  <a:tcPr/>
                </a:tc>
                <a:extLst>
                  <a:ext uri="{0D108BD9-81ED-4DB2-BD59-A6C34878D82A}">
                    <a16:rowId xmlns:a16="http://schemas.microsoft.com/office/drawing/2014/main" val="4075770874"/>
                  </a:ext>
                </a:extLst>
              </a:tr>
              <a:tr h="289560">
                <a:tc>
                  <a:txBody>
                    <a:bodyPr/>
                    <a:lstStyle/>
                    <a:p>
                      <a:r>
                        <a:rPr lang="en-IN" dirty="0"/>
                        <a:t>Requires dermatologist examination</a:t>
                      </a:r>
                    </a:p>
                  </a:txBody>
                  <a:tcPr/>
                </a:tc>
                <a:tc>
                  <a:txBody>
                    <a:bodyPr/>
                    <a:lstStyle/>
                    <a:p>
                      <a:r>
                        <a:rPr lang="en-IN" dirty="0"/>
                        <a:t>AI-based automatic detection</a:t>
                      </a:r>
                    </a:p>
                  </a:txBody>
                  <a:tcPr/>
                </a:tc>
                <a:extLst>
                  <a:ext uri="{0D108BD9-81ED-4DB2-BD59-A6C34878D82A}">
                    <a16:rowId xmlns:a16="http://schemas.microsoft.com/office/drawing/2014/main" val="3745630852"/>
                  </a:ext>
                </a:extLst>
              </a:tr>
              <a:tr h="370840">
                <a:tc>
                  <a:txBody>
                    <a:bodyPr/>
                    <a:lstStyle/>
                    <a:p>
                      <a:r>
                        <a:rPr lang="en-IN" dirty="0"/>
                        <a:t>Time-consuming diagnosis</a:t>
                      </a:r>
                    </a:p>
                  </a:txBody>
                  <a:tcPr/>
                </a:tc>
                <a:tc>
                  <a:txBody>
                    <a:bodyPr/>
                    <a:lstStyle/>
                    <a:p>
                      <a:pPr>
                        <a:buNone/>
                      </a:pPr>
                      <a:r>
                        <a:rPr lang="en-IN" dirty="0"/>
                        <a:t>Faster prediction</a:t>
                      </a:r>
                    </a:p>
                  </a:txBody>
                  <a:tcPr anchor="ctr"/>
                </a:tc>
                <a:extLst>
                  <a:ext uri="{0D108BD9-81ED-4DB2-BD59-A6C34878D82A}">
                    <a16:rowId xmlns:a16="http://schemas.microsoft.com/office/drawing/2014/main" val="668372997"/>
                  </a:ext>
                </a:extLst>
              </a:tr>
              <a:tr h="370840">
                <a:tc>
                  <a:txBody>
                    <a:bodyPr/>
                    <a:lstStyle/>
                    <a:p>
                      <a:r>
                        <a:rPr lang="en-IN" dirty="0"/>
                        <a:t>Expensive diagnostic procedures</a:t>
                      </a:r>
                    </a:p>
                  </a:txBody>
                  <a:tcPr/>
                </a:tc>
                <a:tc>
                  <a:txBody>
                    <a:bodyPr/>
                    <a:lstStyle/>
                    <a:p>
                      <a:pPr>
                        <a:buNone/>
                      </a:pPr>
                      <a:r>
                        <a:rPr lang="en-IN" dirty="0"/>
                        <a:t>Low-cost solution</a:t>
                      </a:r>
                    </a:p>
                  </a:txBody>
                  <a:tcPr anchor="ctr"/>
                </a:tc>
                <a:extLst>
                  <a:ext uri="{0D108BD9-81ED-4DB2-BD59-A6C34878D82A}">
                    <a16:rowId xmlns:a16="http://schemas.microsoft.com/office/drawing/2014/main" val="2865388689"/>
                  </a:ext>
                </a:extLst>
              </a:tr>
              <a:tr h="370840">
                <a:tc>
                  <a:txBody>
                    <a:bodyPr/>
                    <a:lstStyle/>
                    <a:p>
                      <a:r>
                        <a:rPr lang="en-US" dirty="0"/>
                        <a:t>Limited accessibility in rural areas</a:t>
                      </a:r>
                      <a:endParaRPr lang="en-IN" dirty="0"/>
                    </a:p>
                  </a:txBody>
                  <a:tcPr/>
                </a:tc>
                <a:tc>
                  <a:txBody>
                    <a:bodyPr/>
                    <a:lstStyle/>
                    <a:p>
                      <a:r>
                        <a:rPr lang="en-US" dirty="0"/>
                        <a:t>Can be used anywhere with a device</a:t>
                      </a:r>
                      <a:endParaRPr lang="en-IN" dirty="0"/>
                    </a:p>
                  </a:txBody>
                  <a:tcPr/>
                </a:tc>
                <a:extLst>
                  <a:ext uri="{0D108BD9-81ED-4DB2-BD59-A6C34878D82A}">
                    <a16:rowId xmlns:a16="http://schemas.microsoft.com/office/drawing/2014/main" val="207899271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Challenges &amp; Risks</a:t>
            </a:r>
            <a:endParaRPr lang="en-US" dirty="0"/>
          </a:p>
        </p:txBody>
      </p:sp>
      <p:sp>
        <p:nvSpPr>
          <p:cNvPr id="3" name="Content Placeholder 2"/>
          <p:cNvSpPr>
            <a:spLocks noGrp="1"/>
          </p:cNvSpPr>
          <p:nvPr>
            <p:ph idx="1"/>
          </p:nvPr>
        </p:nvSpPr>
        <p:spPr>
          <a:xfrm>
            <a:off x="0" y="838200"/>
            <a:ext cx="9144000" cy="5883275"/>
          </a:xfrm>
        </p:spPr>
        <p:txBody>
          <a:bodyPr/>
          <a:lstStyle/>
          <a:p>
            <a:r>
              <a:rPr lang="en-US" sz="2400" b="1" dirty="0"/>
              <a:t>Key Challenges Faced So Far</a:t>
            </a:r>
          </a:p>
          <a:p>
            <a:r>
              <a:rPr lang="en-US" sz="2000" dirty="0"/>
              <a:t>• Dataset imbalance affecting model prediction accuracy</a:t>
            </a:r>
            <a:br>
              <a:rPr lang="en-US" sz="2000" dirty="0"/>
            </a:br>
            <a:r>
              <a:rPr lang="en-US" sz="2000" dirty="0"/>
              <a:t>• Integration challenges between frontend, backend, and ML model</a:t>
            </a:r>
            <a:br>
              <a:rPr lang="en-US" sz="2000" dirty="0"/>
            </a:br>
            <a:r>
              <a:rPr lang="en-US" sz="2000" dirty="0"/>
              <a:t>• Handling preprocessing for varying image qualities and skin tones</a:t>
            </a:r>
            <a:br>
              <a:rPr lang="en-US" sz="2000" dirty="0"/>
            </a:br>
            <a:r>
              <a:rPr lang="en-US" sz="2000" dirty="0"/>
              <a:t>• Improving prediction speed and UI responsiveness</a:t>
            </a:r>
            <a:br>
              <a:rPr lang="en-US" sz="2000" dirty="0"/>
            </a:br>
            <a:r>
              <a:rPr lang="en-US" sz="2000" dirty="0"/>
              <a:t>• Ensuring secure login authentication and database management</a:t>
            </a:r>
          </a:p>
        </p:txBody>
      </p:sp>
      <p:sp>
        <p:nvSpPr>
          <p:cNvPr id="4" name="Date Placeholder 3">
            <a:extLst>
              <a:ext uri="{FF2B5EF4-FFF2-40B4-BE49-F238E27FC236}">
                <a16:creationId xmlns:a16="http://schemas.microsoft.com/office/drawing/2014/main" id="{AB0E66B1-0662-8C51-4FE9-A3821FA091DD}"/>
              </a:ext>
            </a:extLst>
          </p:cNvPr>
          <p:cNvSpPr>
            <a:spLocks noGrp="1"/>
          </p:cNvSpPr>
          <p:nvPr>
            <p:ph type="dt" sz="half" idx="10"/>
          </p:nvPr>
        </p:nvSpPr>
        <p:spPr/>
        <p:txBody>
          <a:bodyPr/>
          <a:lstStyle/>
          <a:p>
            <a:fld id="{2AB514EB-ADF4-44F4-B0DD-F8908B819805}" type="datetime1">
              <a:rPr lang="en-US" smtClean="0"/>
              <a:t>5/15/2026</a:t>
            </a:fld>
            <a:endParaRPr lang="en-US"/>
          </a:p>
        </p:txBody>
      </p:sp>
      <p:sp>
        <p:nvSpPr>
          <p:cNvPr id="6" name="Slide Number Placeholder 5">
            <a:extLst>
              <a:ext uri="{FF2B5EF4-FFF2-40B4-BE49-F238E27FC236}">
                <a16:creationId xmlns:a16="http://schemas.microsoft.com/office/drawing/2014/main" id="{31669691-BF2B-44EF-8BCC-004B9DAF5C03}"/>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16</a:t>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0DE59-70AC-85CE-47C0-99FBC26F2471}"/>
              </a:ext>
            </a:extLst>
          </p:cNvPr>
          <p:cNvSpPr>
            <a:spLocks noGrp="1"/>
          </p:cNvSpPr>
          <p:nvPr>
            <p:ph type="title"/>
          </p:nvPr>
        </p:nvSpPr>
        <p:spPr/>
        <p:txBody>
          <a:bodyPr/>
          <a:lstStyle/>
          <a:p>
            <a:r>
              <a:rPr lang="en-US" sz="2800" b="1" dirty="0"/>
              <a:t>Challenges &amp; Risks</a:t>
            </a:r>
            <a:endParaRPr lang="en-IN" dirty="0"/>
          </a:p>
        </p:txBody>
      </p:sp>
      <p:sp>
        <p:nvSpPr>
          <p:cNvPr id="3" name="Content Placeholder 2">
            <a:extLst>
              <a:ext uri="{FF2B5EF4-FFF2-40B4-BE49-F238E27FC236}">
                <a16:creationId xmlns:a16="http://schemas.microsoft.com/office/drawing/2014/main" id="{8F0AB5B9-4B97-EC1E-AF4F-5E93D23351B9}"/>
              </a:ext>
            </a:extLst>
          </p:cNvPr>
          <p:cNvSpPr>
            <a:spLocks noGrp="1"/>
          </p:cNvSpPr>
          <p:nvPr>
            <p:ph idx="1"/>
          </p:nvPr>
        </p:nvSpPr>
        <p:spPr>
          <a:xfrm>
            <a:off x="0" y="838200"/>
            <a:ext cx="9144000" cy="5883275"/>
          </a:xfrm>
        </p:spPr>
        <p:txBody>
          <a:bodyPr/>
          <a:lstStyle/>
          <a:p>
            <a:r>
              <a:rPr lang="en-US" b="1" dirty="0"/>
              <a:t>Identified Risks &amp; Mitigation Strategies</a:t>
            </a:r>
            <a:endParaRPr lang="en-US" dirty="0"/>
          </a:p>
          <a:p>
            <a:endParaRPr lang="en-IN" dirty="0"/>
          </a:p>
        </p:txBody>
      </p:sp>
      <p:sp>
        <p:nvSpPr>
          <p:cNvPr id="4" name="Date Placeholder 3">
            <a:extLst>
              <a:ext uri="{FF2B5EF4-FFF2-40B4-BE49-F238E27FC236}">
                <a16:creationId xmlns:a16="http://schemas.microsoft.com/office/drawing/2014/main" id="{FA0F5B78-6883-9844-9BD3-52F2674EF416}"/>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689B0C7B-78D8-A638-9715-91BF2667FCB4}"/>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17</a:t>
            </a:fld>
            <a:endParaRPr lang="en-IN" dirty="0"/>
          </a:p>
        </p:txBody>
      </p:sp>
      <p:graphicFrame>
        <p:nvGraphicFramePr>
          <p:cNvPr id="6" name="Table 5">
            <a:extLst>
              <a:ext uri="{FF2B5EF4-FFF2-40B4-BE49-F238E27FC236}">
                <a16:creationId xmlns:a16="http://schemas.microsoft.com/office/drawing/2014/main" id="{CF2DEAEC-7A55-99BB-B2F5-BB73BC408656}"/>
              </a:ext>
            </a:extLst>
          </p:cNvPr>
          <p:cNvGraphicFramePr>
            <a:graphicFrameLocks noGrp="1"/>
          </p:cNvGraphicFramePr>
          <p:nvPr>
            <p:extLst>
              <p:ext uri="{D42A27DB-BD31-4B8C-83A1-F6EECF244321}">
                <p14:modId xmlns:p14="http://schemas.microsoft.com/office/powerpoint/2010/main" val="508475192"/>
              </p:ext>
            </p:extLst>
          </p:nvPr>
        </p:nvGraphicFramePr>
        <p:xfrm>
          <a:off x="152400" y="1676400"/>
          <a:ext cx="8915400" cy="4302760"/>
        </p:xfrm>
        <a:graphic>
          <a:graphicData uri="http://schemas.openxmlformats.org/drawingml/2006/table">
            <a:tbl>
              <a:tblPr firstRow="1" bandRow="1">
                <a:tableStyleId>{21E4AEA4-8DFA-4A89-87EB-49C32662AFE0}</a:tableStyleId>
              </a:tblPr>
              <a:tblGrid>
                <a:gridCol w="4457700">
                  <a:extLst>
                    <a:ext uri="{9D8B030D-6E8A-4147-A177-3AD203B41FA5}">
                      <a16:colId xmlns:a16="http://schemas.microsoft.com/office/drawing/2014/main" val="1889186176"/>
                    </a:ext>
                  </a:extLst>
                </a:gridCol>
                <a:gridCol w="4457700">
                  <a:extLst>
                    <a:ext uri="{9D8B030D-6E8A-4147-A177-3AD203B41FA5}">
                      <a16:colId xmlns:a16="http://schemas.microsoft.com/office/drawing/2014/main" val="2047857460"/>
                    </a:ext>
                  </a:extLst>
                </a:gridCol>
              </a:tblGrid>
              <a:tr h="711200">
                <a:tc>
                  <a:txBody>
                    <a:bodyPr/>
                    <a:lstStyle/>
                    <a:p>
                      <a:pPr algn="ctr"/>
                      <a:r>
                        <a:rPr lang="en-US" sz="2400" b="1" dirty="0"/>
                        <a:t>Risk </a:t>
                      </a:r>
                      <a:endParaRPr lang="en-IN" sz="2400" dirty="0"/>
                    </a:p>
                  </a:txBody>
                  <a:tcPr/>
                </a:tc>
                <a:tc>
                  <a:txBody>
                    <a:bodyPr/>
                    <a:lstStyle/>
                    <a:p>
                      <a:pPr algn="ctr"/>
                      <a:r>
                        <a:rPr lang="en-IN" sz="2400" dirty="0"/>
                        <a:t>Mitigation Strategy</a:t>
                      </a:r>
                    </a:p>
                  </a:txBody>
                  <a:tcPr/>
                </a:tc>
                <a:extLst>
                  <a:ext uri="{0D108BD9-81ED-4DB2-BD59-A6C34878D82A}">
                    <a16:rowId xmlns:a16="http://schemas.microsoft.com/office/drawing/2014/main" val="1737313138"/>
                  </a:ext>
                </a:extLst>
              </a:tr>
              <a:tr h="711200">
                <a:tc>
                  <a:txBody>
                    <a:bodyPr/>
                    <a:lstStyle/>
                    <a:p>
                      <a:r>
                        <a:rPr lang="en-IN" dirty="0"/>
                        <a:t>Low prediction accuracy</a:t>
                      </a:r>
                    </a:p>
                  </a:txBody>
                  <a:tcPr/>
                </a:tc>
                <a:tc>
                  <a:txBody>
                    <a:bodyPr/>
                    <a:lstStyle/>
                    <a:p>
                      <a:r>
                        <a:rPr lang="en-IN" dirty="0"/>
                        <a:t>Model tuning and preprocessing</a:t>
                      </a:r>
                    </a:p>
                  </a:txBody>
                  <a:tcPr/>
                </a:tc>
                <a:extLst>
                  <a:ext uri="{0D108BD9-81ED-4DB2-BD59-A6C34878D82A}">
                    <a16:rowId xmlns:a16="http://schemas.microsoft.com/office/drawing/2014/main" val="3788053104"/>
                  </a:ext>
                </a:extLst>
              </a:tr>
              <a:tr h="711200">
                <a:tc>
                  <a:txBody>
                    <a:bodyPr/>
                    <a:lstStyle/>
                    <a:p>
                      <a:r>
                        <a:rPr lang="en-IN" dirty="0"/>
                        <a:t>Poor image quality</a:t>
                      </a:r>
                    </a:p>
                  </a:txBody>
                  <a:tcPr/>
                </a:tc>
                <a:tc>
                  <a:txBody>
                    <a:bodyPr/>
                    <a:lstStyle/>
                    <a:p>
                      <a:r>
                        <a:rPr lang="en-IN" dirty="0"/>
                        <a:t>Image normalization and validation</a:t>
                      </a:r>
                    </a:p>
                  </a:txBody>
                  <a:tcPr/>
                </a:tc>
                <a:extLst>
                  <a:ext uri="{0D108BD9-81ED-4DB2-BD59-A6C34878D82A}">
                    <a16:rowId xmlns:a16="http://schemas.microsoft.com/office/drawing/2014/main" val="760373836"/>
                  </a:ext>
                </a:extLst>
              </a:tr>
              <a:tr h="711200">
                <a:tc>
                  <a:txBody>
                    <a:bodyPr/>
                    <a:lstStyle/>
                    <a:p>
                      <a:pPr>
                        <a:buNone/>
                      </a:pPr>
                      <a:r>
                        <a:rPr lang="en-IN" dirty="0"/>
                        <a:t>Backend integration errors</a:t>
                      </a:r>
                    </a:p>
                  </a:txBody>
                  <a:tcPr anchor="ctr"/>
                </a:tc>
                <a:tc>
                  <a:txBody>
                    <a:bodyPr/>
                    <a:lstStyle/>
                    <a:p>
                      <a:r>
                        <a:rPr lang="en-IN" dirty="0"/>
                        <a:t>Regular testing and debugging</a:t>
                      </a:r>
                    </a:p>
                  </a:txBody>
                  <a:tcPr/>
                </a:tc>
                <a:extLst>
                  <a:ext uri="{0D108BD9-81ED-4DB2-BD59-A6C34878D82A}">
                    <a16:rowId xmlns:a16="http://schemas.microsoft.com/office/drawing/2014/main" val="1365281823"/>
                  </a:ext>
                </a:extLst>
              </a:tr>
              <a:tr h="711200">
                <a:tc>
                  <a:txBody>
                    <a:bodyPr/>
                    <a:lstStyle/>
                    <a:p>
                      <a:r>
                        <a:rPr lang="en-IN" dirty="0"/>
                        <a:t>Data security issues</a:t>
                      </a:r>
                    </a:p>
                  </a:txBody>
                  <a:tcPr/>
                </a:tc>
                <a:tc>
                  <a:txBody>
                    <a:bodyPr/>
                    <a:lstStyle/>
                    <a:p>
                      <a:r>
                        <a:rPr lang="en-US" dirty="0"/>
                        <a:t>Secure authentication and database handling</a:t>
                      </a:r>
                      <a:endParaRPr lang="en-IN" dirty="0"/>
                    </a:p>
                  </a:txBody>
                  <a:tcPr/>
                </a:tc>
                <a:extLst>
                  <a:ext uri="{0D108BD9-81ED-4DB2-BD59-A6C34878D82A}">
                    <a16:rowId xmlns:a16="http://schemas.microsoft.com/office/drawing/2014/main" val="939130424"/>
                  </a:ext>
                </a:extLst>
              </a:tr>
              <a:tr h="711200">
                <a:tc>
                  <a:txBody>
                    <a:bodyPr/>
                    <a:lstStyle/>
                    <a:p>
                      <a:pPr algn="l" fontAlgn="base">
                        <a:buNone/>
                      </a:pPr>
                      <a:br>
                        <a:rPr lang="en-IN" dirty="0">
                          <a:effectLst/>
                        </a:rPr>
                      </a:br>
                      <a:r>
                        <a:rPr lang="en-IN" dirty="0">
                          <a:effectLst/>
                        </a:rPr>
                        <a:t>Slow system response</a:t>
                      </a:r>
                    </a:p>
                  </a:txBody>
                  <a:tcPr marB="152400" anchor="ctr"/>
                </a:tc>
                <a:tc>
                  <a:txBody>
                    <a:bodyPr/>
                    <a:lstStyle/>
                    <a:p>
                      <a:r>
                        <a:rPr lang="en-US" dirty="0"/>
                        <a:t>Performance optimization and efficient APIs</a:t>
                      </a:r>
                      <a:endParaRPr lang="en-IN" dirty="0"/>
                    </a:p>
                  </a:txBody>
                  <a:tcPr/>
                </a:tc>
                <a:extLst>
                  <a:ext uri="{0D108BD9-81ED-4DB2-BD59-A6C34878D82A}">
                    <a16:rowId xmlns:a16="http://schemas.microsoft.com/office/drawing/2014/main" val="16989186"/>
                  </a:ext>
                </a:extLst>
              </a:tr>
            </a:tbl>
          </a:graphicData>
        </a:graphic>
      </p:graphicFrame>
    </p:spTree>
    <p:extLst>
      <p:ext uri="{BB962C8B-B14F-4D97-AF65-F5344CB8AC3E}">
        <p14:creationId xmlns:p14="http://schemas.microsoft.com/office/powerpoint/2010/main" val="1216568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Next Steps</a:t>
            </a:r>
            <a:endParaRPr lang="en-US" dirty="0"/>
          </a:p>
        </p:txBody>
      </p:sp>
      <p:sp>
        <p:nvSpPr>
          <p:cNvPr id="3" name="Content Placeholder 2"/>
          <p:cNvSpPr>
            <a:spLocks noGrp="1"/>
          </p:cNvSpPr>
          <p:nvPr>
            <p:ph idx="1"/>
          </p:nvPr>
        </p:nvSpPr>
        <p:spPr>
          <a:xfrm>
            <a:off x="0" y="838200"/>
            <a:ext cx="9144000" cy="5883275"/>
          </a:xfrm>
        </p:spPr>
        <p:txBody>
          <a:bodyPr/>
          <a:lstStyle/>
          <a:p>
            <a:r>
              <a:rPr lang="en-US" sz="2000" b="1" dirty="0"/>
              <a:t>• </a:t>
            </a:r>
            <a:r>
              <a:rPr lang="en-US" sz="2400" b="1" dirty="0"/>
              <a:t>Advanced Model Improvement:</a:t>
            </a:r>
          </a:p>
          <a:p>
            <a:r>
              <a:rPr lang="en-US" sz="2000" dirty="0"/>
              <a:t>• Improved model accuracy using balanced dataset and fine-tuning</a:t>
            </a:r>
            <a:br>
              <a:rPr lang="en-US" sz="2000" dirty="0"/>
            </a:br>
            <a:r>
              <a:rPr lang="en-US" sz="2000" dirty="0"/>
              <a:t>• Added non-skin image detection and validation testing</a:t>
            </a:r>
          </a:p>
          <a:p>
            <a:r>
              <a:rPr lang="en-US" sz="2000" b="1" dirty="0"/>
              <a:t>• </a:t>
            </a:r>
            <a:r>
              <a:rPr lang="en-US" sz="2400" b="1" dirty="0"/>
              <a:t>Future Scope:</a:t>
            </a:r>
          </a:p>
          <a:p>
            <a:r>
              <a:rPr lang="en-US" sz="2000" dirty="0"/>
              <a:t>• Add prediction history and doctor dashboard</a:t>
            </a:r>
            <a:br>
              <a:rPr lang="en-US" sz="2000" dirty="0"/>
            </a:br>
            <a:r>
              <a:rPr lang="en-US" sz="2000" dirty="0"/>
              <a:t>• Improve system deployment and accessibility</a:t>
            </a:r>
          </a:p>
          <a:p>
            <a:r>
              <a:rPr lang="en-US" sz="2000" b="1" dirty="0"/>
              <a:t>• </a:t>
            </a:r>
            <a:r>
              <a:rPr lang="en-US" sz="2400" b="1" dirty="0"/>
              <a:t>Research &amp; Future Expansion:</a:t>
            </a:r>
          </a:p>
          <a:p>
            <a:r>
              <a:rPr lang="en-US" sz="2000" dirty="0"/>
              <a:t>• Train model on larger medical datasets</a:t>
            </a:r>
            <a:br>
              <a:rPr lang="en-US" sz="2000" dirty="0"/>
            </a:br>
            <a:r>
              <a:rPr lang="en-US" sz="2000" dirty="0"/>
              <a:t>• Explore real-time dermatoscopic image integration</a:t>
            </a:r>
            <a:br>
              <a:rPr lang="en-US" sz="2000" dirty="0"/>
            </a:br>
            <a:r>
              <a:rPr lang="en-US" sz="2000" dirty="0"/>
              <a:t>• Extend system for multi-disease medical diagnosis</a:t>
            </a:r>
          </a:p>
          <a:p>
            <a:endParaRPr lang="en-US" sz="2400" dirty="0"/>
          </a:p>
        </p:txBody>
      </p:sp>
      <p:sp>
        <p:nvSpPr>
          <p:cNvPr id="4" name="Date Placeholder 3">
            <a:extLst>
              <a:ext uri="{FF2B5EF4-FFF2-40B4-BE49-F238E27FC236}">
                <a16:creationId xmlns:a16="http://schemas.microsoft.com/office/drawing/2014/main" id="{ECAB0FC4-5CB6-3448-3814-35CC654199CE}"/>
              </a:ext>
            </a:extLst>
          </p:cNvPr>
          <p:cNvSpPr>
            <a:spLocks noGrp="1"/>
          </p:cNvSpPr>
          <p:nvPr>
            <p:ph type="dt" sz="half" idx="10"/>
          </p:nvPr>
        </p:nvSpPr>
        <p:spPr/>
        <p:txBody>
          <a:bodyPr/>
          <a:lstStyle/>
          <a:p>
            <a:fld id="{144B990C-2231-4372-8ACB-A18AE1342B49}" type="datetime1">
              <a:rPr lang="en-US" smtClean="0"/>
              <a:t>5/15/2026</a:t>
            </a:fld>
            <a:endParaRPr lang="en-US"/>
          </a:p>
        </p:txBody>
      </p:sp>
      <p:sp>
        <p:nvSpPr>
          <p:cNvPr id="6" name="Slide Number Placeholder 5">
            <a:extLst>
              <a:ext uri="{FF2B5EF4-FFF2-40B4-BE49-F238E27FC236}">
                <a16:creationId xmlns:a16="http://schemas.microsoft.com/office/drawing/2014/main" id="{EAD35436-46DA-4CB7-418E-A6BE9D1E6E92}"/>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18</a:t>
            </a:fld>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2842-42D4-E433-7684-2C4F649709A0}"/>
              </a:ext>
            </a:extLst>
          </p:cNvPr>
          <p:cNvSpPr>
            <a:spLocks noGrp="1"/>
          </p:cNvSpPr>
          <p:nvPr>
            <p:ph type="title"/>
          </p:nvPr>
        </p:nvSpPr>
        <p:spPr/>
        <p:txBody>
          <a:bodyPr/>
          <a:lstStyle/>
          <a:p>
            <a:r>
              <a:rPr lang="en-US" sz="3200" b="1" dirty="0"/>
              <a:t>Snapshots of Project Implementation</a:t>
            </a:r>
            <a:endParaRPr lang="en-IN" dirty="0"/>
          </a:p>
        </p:txBody>
      </p:sp>
      <p:sp>
        <p:nvSpPr>
          <p:cNvPr id="4" name="Date Placeholder 3">
            <a:extLst>
              <a:ext uri="{FF2B5EF4-FFF2-40B4-BE49-F238E27FC236}">
                <a16:creationId xmlns:a16="http://schemas.microsoft.com/office/drawing/2014/main" id="{F258540A-94F2-CB70-38D7-2E127BF5C93D}"/>
              </a:ext>
            </a:extLst>
          </p:cNvPr>
          <p:cNvSpPr>
            <a:spLocks noGrp="1"/>
          </p:cNvSpPr>
          <p:nvPr>
            <p:ph type="dt" sz="half" idx="10"/>
          </p:nvPr>
        </p:nvSpPr>
        <p:spPr/>
        <p:txBody>
          <a:bodyPr/>
          <a:lstStyle/>
          <a:p>
            <a:fld id="{28CEFB45-03F9-4C34-8CBD-8AAE0B34908A}" type="datetime1">
              <a:rPr lang="en-US" smtClean="0"/>
              <a:t>5/15/2026</a:t>
            </a:fld>
            <a:endParaRPr lang="en-US"/>
          </a:p>
        </p:txBody>
      </p:sp>
      <p:sp>
        <p:nvSpPr>
          <p:cNvPr id="6" name="Slide Number Placeholder 5">
            <a:extLst>
              <a:ext uri="{FF2B5EF4-FFF2-40B4-BE49-F238E27FC236}">
                <a16:creationId xmlns:a16="http://schemas.microsoft.com/office/drawing/2014/main" id="{2E4DED27-B714-C7B2-2B54-EFE3E5D48011}"/>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19</a:t>
            </a:fld>
            <a:endParaRPr lang="en-IN" dirty="0"/>
          </a:p>
        </p:txBody>
      </p:sp>
      <p:pic>
        <p:nvPicPr>
          <p:cNvPr id="10" name="Content Placeholder 9">
            <a:extLst>
              <a:ext uri="{FF2B5EF4-FFF2-40B4-BE49-F238E27FC236}">
                <a16:creationId xmlns:a16="http://schemas.microsoft.com/office/drawing/2014/main" id="{2710799B-59EE-583C-A055-0E6FF6604F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04800" y="1828800"/>
            <a:ext cx="4093125" cy="361870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3425F3B6-D9CB-4827-A2B3-48AAD5F8B7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0087" y="1828799"/>
            <a:ext cx="4106226" cy="3618708"/>
          </a:xfrm>
          <a:prstGeom prst="rect">
            <a:avLst/>
          </a:prstGeom>
        </p:spPr>
      </p:pic>
    </p:spTree>
    <p:extLst>
      <p:ext uri="{BB962C8B-B14F-4D97-AF65-F5344CB8AC3E}">
        <p14:creationId xmlns:p14="http://schemas.microsoft.com/office/powerpoint/2010/main" val="1447104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D8C0-AE6D-DACD-4D7C-1F05BB735CD5}"/>
              </a:ext>
            </a:extLst>
          </p:cNvPr>
          <p:cNvSpPr>
            <a:spLocks noGrp="1"/>
          </p:cNvSpPr>
          <p:nvPr>
            <p:ph type="title"/>
          </p:nvPr>
        </p:nvSpPr>
        <p:spPr/>
        <p:txBody>
          <a:bodyPr/>
          <a:lstStyle/>
          <a:p>
            <a:r>
              <a:rPr lang="en-US" sz="2800" b="1" dirty="0"/>
              <a:t>Snapshots of Project Implementation</a:t>
            </a:r>
            <a:endParaRPr lang="en-US" dirty="0"/>
          </a:p>
        </p:txBody>
      </p:sp>
      <p:sp>
        <p:nvSpPr>
          <p:cNvPr id="4" name="Date Placeholder 3">
            <a:extLst>
              <a:ext uri="{FF2B5EF4-FFF2-40B4-BE49-F238E27FC236}">
                <a16:creationId xmlns:a16="http://schemas.microsoft.com/office/drawing/2014/main" id="{4D0E16FB-F692-CDA0-C30F-FA326FC06F8E}"/>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F1799E68-1BF6-2C94-26FA-9D2A778DA5A5}"/>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20</a:t>
            </a:fld>
            <a:endParaRPr lang="en-IN" dirty="0"/>
          </a:p>
        </p:txBody>
      </p:sp>
      <p:pic>
        <p:nvPicPr>
          <p:cNvPr id="10" name="Content Placeholder 9">
            <a:extLst>
              <a:ext uri="{FF2B5EF4-FFF2-40B4-BE49-F238E27FC236}">
                <a16:creationId xmlns:a16="http://schemas.microsoft.com/office/drawing/2014/main" id="{9B5B88EC-9574-53AA-923F-82145CAEC0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81781" y="1600200"/>
            <a:ext cx="8229600" cy="3868212"/>
          </a:xfrm>
          <a:prstGeom prst="rect">
            <a:avLst/>
          </a:prstGeom>
          <a:noFill/>
          <a:ln w="9525">
            <a:noFill/>
            <a:miter lim="800000"/>
            <a:headEnd/>
            <a:tailEnd/>
          </a:ln>
        </p:spPr>
      </p:pic>
    </p:spTree>
    <p:extLst>
      <p:ext uri="{BB962C8B-B14F-4D97-AF65-F5344CB8AC3E}">
        <p14:creationId xmlns:p14="http://schemas.microsoft.com/office/powerpoint/2010/main" val="3158325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C9B7C-50AE-A112-BB6C-FB9C27B0C30A}"/>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A8D0A4F2-4751-5796-CCA3-DC02165F31F4}"/>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D3031148-570B-C76D-55B3-F653560107D0}"/>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21</a:t>
            </a:fld>
            <a:endParaRPr lang="en-IN" dirty="0"/>
          </a:p>
        </p:txBody>
      </p:sp>
      <p:pic>
        <p:nvPicPr>
          <p:cNvPr id="10" name="Content Placeholder 9">
            <a:extLst>
              <a:ext uri="{FF2B5EF4-FFF2-40B4-BE49-F238E27FC236}">
                <a16:creationId xmlns:a16="http://schemas.microsoft.com/office/drawing/2014/main" id="{30C25B65-ECCD-802D-F692-D78B5FC328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80219" y="922951"/>
            <a:ext cx="4063182" cy="5348648"/>
          </a:xfrm>
          <a:prstGeom prst="rect">
            <a:avLst/>
          </a:prstGeom>
          <a:noFill/>
          <a:ln w="9525">
            <a:noFill/>
            <a:miter lim="800000"/>
            <a:headEnd/>
            <a:tailEnd/>
          </a:ln>
        </p:spPr>
      </p:pic>
      <p:pic>
        <p:nvPicPr>
          <p:cNvPr id="12" name="Picture 11">
            <a:extLst>
              <a:ext uri="{FF2B5EF4-FFF2-40B4-BE49-F238E27FC236}">
                <a16:creationId xmlns:a16="http://schemas.microsoft.com/office/drawing/2014/main" id="{15A69E8A-1E45-579C-6CD0-1B5C13F40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922951"/>
            <a:ext cx="4063181" cy="5348648"/>
          </a:xfrm>
          <a:prstGeom prst="rect">
            <a:avLst/>
          </a:prstGeom>
        </p:spPr>
      </p:pic>
    </p:spTree>
    <p:extLst>
      <p:ext uri="{BB962C8B-B14F-4D97-AF65-F5344CB8AC3E}">
        <p14:creationId xmlns:p14="http://schemas.microsoft.com/office/powerpoint/2010/main" val="3579396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7F12-1B7A-9694-4EDB-A44F0DF9C432}"/>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F3E17D6B-C167-2898-72A1-FF38D1D62E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73422" y="1295400"/>
            <a:ext cx="8597155" cy="4572000"/>
          </a:xfrm>
          <a:prstGeom prst="rect">
            <a:avLst/>
          </a:prstGeom>
          <a:noFill/>
          <a:ln w="9525">
            <a:noFill/>
            <a:miter lim="800000"/>
            <a:headEnd/>
            <a:tailEnd/>
          </a:ln>
        </p:spPr>
      </p:pic>
      <p:sp>
        <p:nvSpPr>
          <p:cNvPr id="4" name="Date Placeholder 3">
            <a:extLst>
              <a:ext uri="{FF2B5EF4-FFF2-40B4-BE49-F238E27FC236}">
                <a16:creationId xmlns:a16="http://schemas.microsoft.com/office/drawing/2014/main" id="{164B16F8-F0DC-8D34-FB8E-F7105B76E91D}"/>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7070D3E7-FC05-6CE9-CC91-0EE378415238}"/>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22</a:t>
            </a:fld>
            <a:endParaRPr lang="en-IN" dirty="0"/>
          </a:p>
        </p:txBody>
      </p:sp>
    </p:spTree>
    <p:extLst>
      <p:ext uri="{BB962C8B-B14F-4D97-AF65-F5344CB8AC3E}">
        <p14:creationId xmlns:p14="http://schemas.microsoft.com/office/powerpoint/2010/main" val="2039440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B3DD-6B0A-3C68-2957-E840B08BCB3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4526EBE-52DD-ADA5-BCF7-BBF719C65458}"/>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b="1" dirty="0"/>
              <a:t>THANK YOU</a:t>
            </a:r>
            <a:endParaRPr lang="en-IN" sz="6000" b="1" dirty="0"/>
          </a:p>
        </p:txBody>
      </p:sp>
      <p:sp>
        <p:nvSpPr>
          <p:cNvPr id="4" name="Date Placeholder 3">
            <a:extLst>
              <a:ext uri="{FF2B5EF4-FFF2-40B4-BE49-F238E27FC236}">
                <a16:creationId xmlns:a16="http://schemas.microsoft.com/office/drawing/2014/main" id="{B15D7A41-72A7-F4BF-B248-612AC2A208A0}"/>
              </a:ext>
            </a:extLst>
          </p:cNvPr>
          <p:cNvSpPr>
            <a:spLocks noGrp="1"/>
          </p:cNvSpPr>
          <p:nvPr>
            <p:ph type="dt" sz="half" idx="10"/>
          </p:nvPr>
        </p:nvSpPr>
        <p:spPr/>
        <p:txBody>
          <a:bodyPr/>
          <a:lstStyle/>
          <a:p>
            <a:fld id="{7FAB009F-3F92-475B-B1D9-0CE431819213}" type="datetime1">
              <a:rPr lang="en-US" smtClean="0"/>
              <a:t>5/15/2026</a:t>
            </a:fld>
            <a:endParaRPr lang="en-US"/>
          </a:p>
        </p:txBody>
      </p:sp>
      <p:sp>
        <p:nvSpPr>
          <p:cNvPr id="5" name="Slide Number Placeholder 4">
            <a:extLst>
              <a:ext uri="{FF2B5EF4-FFF2-40B4-BE49-F238E27FC236}">
                <a16:creationId xmlns:a16="http://schemas.microsoft.com/office/drawing/2014/main" id="{7B5990F7-DF96-2EFD-39A4-BF5AB9AB9214}"/>
              </a:ext>
            </a:extLst>
          </p:cNvPr>
          <p:cNvSpPr>
            <a:spLocks noGrp="1"/>
          </p:cNvSpPr>
          <p:nvPr>
            <p:ph type="sldNum" sz="quarter" idx="12"/>
          </p:nvPr>
        </p:nvSpPr>
        <p:spPr/>
        <p:txBody>
          <a:bodyPr/>
          <a:lstStyle/>
          <a:p>
            <a:pPr marL="38100">
              <a:lnSpc>
                <a:spcPts val="1630"/>
              </a:lnSpc>
            </a:pPr>
            <a:fld id="{81D60167-4931-47E6-BA6A-407CBD079E47}" type="slidenum">
              <a:rPr lang="en-IN" smtClean="0"/>
              <a:pPr marL="38100">
                <a:lnSpc>
                  <a:spcPts val="1630"/>
                </a:lnSpc>
              </a:pPr>
              <a:t>23</a:t>
            </a:fld>
            <a:endParaRPr lang="en-IN" dirty="0"/>
          </a:p>
        </p:txBody>
      </p:sp>
    </p:spTree>
    <p:extLst>
      <p:ext uri="{BB962C8B-B14F-4D97-AF65-F5344CB8AC3E}">
        <p14:creationId xmlns:p14="http://schemas.microsoft.com/office/powerpoint/2010/main" val="3845682611"/>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AE925D5-DA43-4DD1-B6B6-8B467D16728C}" vid="{3EE72552-1DD1-4F59-AD60-F0ECC5712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367</TotalTime>
  <Words>1453</Words>
  <Application>Microsoft Office PowerPoint</Application>
  <PresentationFormat>On-screen Show (4:3)</PresentationFormat>
  <Paragraphs>230</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Theme1</vt:lpstr>
      <vt:lpstr>PowerPoint Presentation</vt:lpstr>
      <vt:lpstr>Agenda</vt:lpstr>
      <vt:lpstr>Project Overview</vt:lpstr>
      <vt:lpstr>Project Overview</vt:lpstr>
      <vt:lpstr>Project Overview</vt:lpstr>
      <vt:lpstr>Requirement Gathering &amp; Data Collection</vt:lpstr>
      <vt:lpstr>Requirement Gathering &amp; Data Collection</vt:lpstr>
      <vt:lpstr>Design Phase</vt:lpstr>
      <vt:lpstr>Design Phase</vt:lpstr>
      <vt:lpstr>Development Kickoff</vt:lpstr>
      <vt:lpstr>PowerPoint Presentation</vt:lpstr>
      <vt:lpstr> SDG Goals Mapping</vt:lpstr>
      <vt:lpstr>Multidisciplinary Approach</vt:lpstr>
      <vt:lpstr>Multidisciplinary Approach</vt:lpstr>
      <vt:lpstr> Novelty Factor</vt:lpstr>
      <vt:lpstr>Challenges &amp; Risks</vt:lpstr>
      <vt:lpstr>Challenges &amp; Risks</vt:lpstr>
      <vt:lpstr>Next Steps</vt:lpstr>
      <vt:lpstr>Snapshots of Project Implementation</vt:lpstr>
      <vt:lpstr>Snapshots of Project Implementation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Sahil Rao</cp:lastModifiedBy>
  <cp:revision>66</cp:revision>
  <dcterms:created xsi:type="dcterms:W3CDTF">2024-07-10T18:26:37Z</dcterms:created>
  <dcterms:modified xsi:type="dcterms:W3CDTF">2026-05-15T07:28:12Z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2023-09-09T00:00:00Z</vt:filetime>
  </property>
  <property fmtid="{D5CDD505-2E9C-101B-9397-08002B2CF9AE}" pid="3" name="Creator">
    <vt:lpwstr>Microsoft® PowerPoint® 2013</vt:lpwstr>
  </property>
  <property fmtid="{D5CDD505-2E9C-101B-9397-08002B2CF9AE}" pid="4" name="LastSaved">
    <vt:filetime>2024-07-10T00:00:00Z</vt:filetime>
  </property>
</Properties>
</file>